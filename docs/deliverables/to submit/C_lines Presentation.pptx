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3"/>
    <p:sldId id="258" r:id="rId2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29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BC08-E79F-7040-8CD7-D268FC775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FC8C9-99D9-903D-CE6E-DBBD5E993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BD387-1BA8-9074-AF7A-AFC937A7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87864-6017-99C9-D994-0EEEA1A2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11324-82A9-53C8-45EF-CED24C31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CB43-D14B-4843-9B76-A82E1BB7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DC29-78C2-0A1D-3ED7-91EB9F80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B6E4-F0A6-ACAC-C0BD-84B01C1D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376E1-1CF8-19E0-A1BC-093BEED3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3F3D-FDA2-88DE-1521-369D6629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B91E-719A-7A87-755C-9BD5D844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E143A-A9ED-6267-246E-D57FC0ACB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9E1C-822B-45B4-8D55-D910A05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7498-D67B-3C6A-6C2F-7A3B3CAC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B7EBA-B7CE-1FE5-714E-E0AC9F7E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9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845B-00D3-86C3-A83D-DD0E4A8F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BEC6-C4E4-B2BE-1B8E-4F5BC81CD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A034F-85C0-F2F7-B6C3-81787945E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C82D-CFF1-FEEC-88E1-D829B770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DB3A4-CA03-1344-6ECC-76A48C66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03E8E-01FE-EFB4-3EBC-E6D96484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2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36D0-FF12-66A5-8D1E-3F851118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1D6AB-B92D-33A9-EB86-D23A4267E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2AB5F-819F-836E-2107-961FA06C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88996-99C7-BA1D-3722-CE3AFDB03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8B816-6A4D-B432-3763-465301B64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59120-386C-E7C6-2422-29C07064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0B9E5-F780-748E-A4B4-C6426D85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29619-C47A-6E28-690D-573DFD1B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7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60B4-53A7-8A5E-81B4-F1FB79D1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1918C-E9B7-EBFA-BEC0-CAFFF9B2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67FE0-E94F-8718-4641-50EB2771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A0CD1-0E05-CBD8-D7F8-84D5BFDA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7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738A3-534C-E327-546D-296D3E06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C59B8-2111-125D-9E4B-71DDAF8E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5AC02-681C-AAB4-A3DC-00ABE8FA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0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6650-2894-1352-8A55-0C123546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DE14-2C37-6EEC-01D2-51CA23855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77555-CD7D-7D54-9586-E2B279723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F9366-C4F7-0F80-96C9-C337F79E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2F07B-3ECB-0BDC-370C-A25485DB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0014D-B500-2A8D-025F-E8A5D17D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5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A881-6D96-61B9-96AD-70118D3F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48AD0-AF13-3E5A-EABA-F8F1F4ACC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730E-9437-89A7-58A8-1AAF9F5C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A682F-63F3-A2CD-78A0-01856CEC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FCEFE-9AED-C52A-51E1-90A2CE3A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B7724-378C-1763-684D-B1174953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9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85DE-9AB3-3792-2A2B-F0FEA950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564B1-18FF-BB19-9B40-76A62803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B277-24A9-6259-3B9C-873CC062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150F-B42C-7F72-163C-1024DFAF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1D55-221F-11DD-E535-9ABCD47A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19572-B251-3B55-BDFF-5A4C4BCD2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B3B1C-3D52-773B-2BC9-7CAF85219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67C81-BBC4-12F2-4C69-371781F3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973A-A739-5D01-18CD-77EA8086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5F69-913C-121A-5966-DFE44F83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08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2127D-5057-8E18-F077-6C4F9102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6024-E2D4-7197-43DB-056A0DACB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391EA-DE72-D3B7-7B8E-3449D1BDB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966A4-F9E1-4082-9BF6-427132D10FA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75-6B96-8A47-35F3-66CAA1053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ED54-49D8-6C4D-4EBA-D237BC79F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CF79A-2F49-45EB-A148-F0BEDE4BE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3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6C3D91"/>
                </a:solidFill>
                <a:latin typeface="Aptos Display"/>
              </a:rPr>
              <a:t>C_lines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Aptos"/>
              </a:rPr>
              <a:t>A self-play reinforcement-learning agent for an original board game — and quantitative evidence it improves with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A60"/>
                </a:solidFill>
                <a:latin typeface="Aptos"/>
              </a:rPr>
              <a:t>ITRI 616 — Artificial Intelligence 1   ·   8×8 board · points-until-full · run_pts_002 (10,000 self-play games)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6C3D91"/>
                </a:solidFill>
                <a:latin typeface="Aptos Display"/>
              </a:rPr>
              <a:t>The game: C_lines on an 8×8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PROBLEM DEFINITION</a:t>
            </a:r>
          </a:p>
        </p:txBody>
      </p:sp>
      <p:pic>
        <p:nvPicPr>
          <p:cNvPr id="4" name="Picture 3" descr="board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42062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ptos"/>
              </a:rPr>
              <a:t>•  Open placement — players alternate, placing one stone on ANY empty cell; no gravity, no column rule.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ptos"/>
              </a:rPr>
              <a:t>•  Board fills — play continues until all 64 cells are occupied.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ptos"/>
              </a:rPr>
              <a:t>•  Line scoring — score for straight runs (any direction) of length 3–8; longer lines worth far more (3 → 0.25 … 8 → 5.0).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ptos"/>
              </a:rPr>
              <a:t>•  Win condition — highest total score when the board fills; a tie-break removes draws.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C3D91"/>
                </a:solidFill>
                <a:latin typeface="Aptos"/>
              </a:rPr>
              <a:t>•  Why it is hard — 64 opening moves; you must BUILD your own lines and BLOCK the opponent over a 64-move horizon. It is an original game, so no engine exists to copy.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6C3D91"/>
                </a:solidFill>
                <a:latin typeface="Aptos Display"/>
              </a:rPr>
              <a:t>The learning problem — Task · Experience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PROBLEM DEFINITION &amp; TEP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Choose the placement that maximises the final score margin (own − opponent). Category: sequential DECISION-MAKING / CONTROL — not classification, not prediction.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1554480"/>
            <a:ext cx="640080" cy="64008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889C"/>
                </a:solidFill>
                <a:latin typeface="Aptos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237744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Self-generated games: a short warm-up vs Random &amp; Heuristic, then SELF-PLAY against frozen past versions. As the agent improves, so do its opponents — an automatic curriculum.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66176" y="1554480"/>
            <a:ext cx="640080" cy="64008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6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237744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Four metrics every 100 games: win rate vs Random, vs Heuristic, an Elo rating, and win rate vs a 4-ply Alpha-Beta 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Aptos"/>
              </a:rPr>
              <a:t>Goal of the assignment: demonstrate that performance improves with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6C3D91"/>
                </a:solidFill>
                <a:latin typeface="Aptos Display"/>
              </a:rPr>
              <a:t>The algorithm: a self-play Deep Q-Network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TECHNICAL UNDERSTANDING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2286000" cy="86868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10-channel
board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737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525A60"/>
                </a:solidFill>
                <a:latin typeface="Apto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508760"/>
            <a:ext cx="2286000" cy="86868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Residual CNN
(4 blocks, 64ch)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737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525A60"/>
                </a:solidFill>
                <a:latin typeface="Apto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2286000" cy="86868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Q-value
per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37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525A60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508760"/>
            <a:ext cx="2286000" cy="86868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ε-greedy
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Learning loop: transitions are stored in a replay buffer and feed gradient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Why DQN?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Sequential control with delayed reward — a move's value only emerges when the board fills.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Q-learning's TD target is built for that credit assignment.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No labelled 'correct' moves exist for an original game, so supervised learning does not apply.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0896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889C"/>
                </a:solidFill>
                <a:latin typeface="Aptos"/>
              </a:rPr>
              <a:t>Reward design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Dense delta-score shaping: per-move change in (own − opponent) score.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Plus a terminal ±1 for the win / loss.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•  Perfectly aligned with the objective — every step points to the same goal as the final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6C3D91"/>
                </a:solidFill>
                <a:latin typeface="Aptos Display"/>
              </a:rPr>
              <a:t>Three implementation choices that make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TECHNICAL UNDERSTANDING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9728" cy="114300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Negamax value target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The next position is the OPPONENT's, so the bootstrap is subtracted, not added:  target = r − γ·max Q(s′). The single most important correctness property of two-player value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109728" cy="114300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0889C"/>
                </a:solidFill>
                <a:latin typeface="Aptos"/>
              </a:rPr>
              <a:t>Double DQN + Huber loss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The online net selects the action, the target net evaluates it — cutting overestimation. Huber loss keeps updates stable against large TD errors. Together: no late-run collapse.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51960"/>
            <a:ext cx="109728" cy="114300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D4 symmetry augmentation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Every board is also 7 rotations / reflections — multiplying training data eight-fold for free and regularising toward the board's true symmetry.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Plus: target-network sync, gradient clipping, plateau LR decay, and snapshotting every 1,000 games into 10 playable difficulty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6C3D91"/>
                </a:solidFill>
                <a:latin typeface="Aptos Display"/>
              </a:rPr>
              <a:t>Result: performance improves with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RESULTS PRESENTATION &amp; ANALYSIS</a:t>
            </a:r>
          </a:p>
        </p:txBody>
      </p:sp>
      <p:pic>
        <p:nvPicPr>
          <p:cNvPr id="4" name="Picture 3" descr="combined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4130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C3D91"/>
                </a:solidFill>
                <a:latin typeface="Aptos"/>
              </a:rPr>
              <a:t>796 → 1190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Elo (monotone, +394)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1089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0889C"/>
                </a:solidFill>
                <a:latin typeface="Aptos"/>
              </a:rPr>
              <a:t>52.5% → 100%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Win rate vs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4805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C3D91"/>
                </a:solidFill>
                <a:latin typeface="Aptos"/>
              </a:rPr>
              <a:t>46% → 100%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Win rate vs Heuristic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6C3D91"/>
                </a:solidFill>
                <a:latin typeface="Aptos Display"/>
              </a:rPr>
              <a:t>The decisive test: beating a 4-ply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RESULTS PRESENTATION &amp; ANALYSIS</a:t>
            </a:r>
          </a:p>
        </p:txBody>
      </p:sp>
      <p:pic>
        <p:nvPicPr>
          <p:cNvPr id="4" name="Picture 3" descr="benchmark_vs_alpha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vs Alpha-Beta depth-4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an opponent the agent NEVER trains against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00889C"/>
                </a:solidFill>
                <a:latin typeface="Aptos"/>
              </a:rPr>
              <a:t>19% → 100%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win rate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6C3D91"/>
                </a:solidFill>
                <a:latin typeface="Aptos"/>
              </a:rPr>
              <a:t>−0.83 → +1.17</a:t>
            </a:r>
          </a:p>
          <a:p>
            <a:pPr algn="l">
              <a:spcAft>
                <a:spcPts val="1600"/>
              </a:spcAft>
            </a:pPr>
            <a:r>
              <a:rPr sz="1300" b="0">
                <a:solidFill>
                  <a:srgbClr val="525A60"/>
                </a:solidFill>
                <a:latin typeface="Aptos"/>
              </a:rPr>
              <a:t>mean score margin (sign flips)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ptos"/>
              </a:rPr>
              <a:t>Winning by a margin against an independent search = genuine generalisation, not memorisation.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6C3D91"/>
                </a:solidFill>
                <a:latin typeface="Aptos Display"/>
              </a:rPr>
              <a:t>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CRITICAL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09728" cy="192024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Model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Residual CNN matches local line patterns; tactical channels free the network to weigh threats, not relearn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109728" cy="192024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889C"/>
                </a:solidFill>
                <a:latin typeface="Aptos"/>
              </a:rPr>
              <a:t>Method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Negamax target keeps the value function coherent; Double-DQN + Huber explain the stable, collapse-free convergence.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109728" cy="192024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C3D91"/>
                </a:solidFill>
                <a:latin typeface="Aptos"/>
              </a:rPr>
              <a:t>Results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Win rates saturate at 100% — Elo keeps resolving improvement; the per-snapshot noise is why Elo is the headline.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931920"/>
            <a:ext cx="109728" cy="1920240"/>
          </a:xfrm>
          <a:prstGeom prst="rect">
            <a:avLst/>
          </a:prstGeom>
          <a:solidFill>
            <a:srgbClr val="008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889C"/>
                </a:solidFill>
                <a:latin typeface="Aptos"/>
              </a:rPr>
              <a:t>Improve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Aptos"/>
              </a:rPr>
              <a:t>Multi-seed bands, n-step returns, an AlphaZero-style policy + MCTS head, and a deeper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6C3D91"/>
                </a:solidFill>
                <a:latin typeface="Aptos Display"/>
              </a:rPr>
              <a:t>A self-play DQN learned an original board game — from a blank slate to out-playing a 4-ply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889C"/>
                </a:solidFill>
                <a:latin typeface="Aptos"/>
              </a:rPr>
              <a:t>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6C3D91"/>
                </a:solidFill>
                <a:latin typeface="Aptos"/>
              </a:rPr>
              <a:t>1,190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25A60"/>
                </a:solidFill>
                <a:latin typeface="Aptos"/>
              </a:rPr>
              <a:t>final 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6C3D91"/>
                </a:solidFill>
                <a:latin typeface="Aptos"/>
              </a:rPr>
              <a:t>100%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25A60"/>
                </a:solidFill>
                <a:latin typeface="Aptos"/>
              </a:rPr>
              <a:t>vs Random, Heuristic &amp; AB-d4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8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6C3D91"/>
                </a:solidFill>
                <a:latin typeface="Aptos"/>
              </a:rPr>
              <a:t>10,000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25A60"/>
                </a:solidFill>
                <a:latin typeface="Aptos"/>
              </a:rPr>
              <a:t>self-play 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Aptos"/>
              </a:rPr>
              <a:t>Clear, quantitative evidence that performance improves with experience. Every result is reproducible from the logged data with one command.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00889C"/>
                </a:solidFill>
                <a:latin typeface="Aptos"/>
              </a:rPr>
              <a:t>python -m src.training.train --games 10000 --size 8 --benchmark alphabeta_d4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C3D91"/>
                </a:solidFill>
                <a:latin typeface="Aptos"/>
              </a:rPr>
              <a:t>Thank you -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WU colors">
      <a:dk1>
        <a:srgbClr val="6C3D91"/>
      </a:dk1>
      <a:lt1>
        <a:sysClr val="window" lastClr="FFFFFF"/>
      </a:lt1>
      <a:dk2>
        <a:srgbClr val="00889C"/>
      </a:dk2>
      <a:lt2>
        <a:srgbClr val="78848E"/>
      </a:lt2>
      <a:accent1>
        <a:srgbClr val="5F439A"/>
      </a:accent1>
      <a:accent2>
        <a:srgbClr val="036F77"/>
      </a:accent2>
      <a:accent3>
        <a:srgbClr val="78848E"/>
      </a:accent3>
      <a:accent4>
        <a:srgbClr val="C9CDD1"/>
      </a:accent4>
      <a:accent5>
        <a:srgbClr val="B8F5FF"/>
      </a:accent5>
      <a:accent6>
        <a:srgbClr val="525A60"/>
      </a:accent6>
      <a:hlink>
        <a:srgbClr val="00889C"/>
      </a:hlink>
      <a:folHlink>
        <a:srgbClr val="5F439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+NWU_PPT_07" id="{513CC988-A299-4A5D-9630-3F3A67E2EF10}" vid="{CD618A1F-5143-4359-AEDD-D125CCE6987E}"/>
    </a:ext>
  </a:extLst>
</a:theme>
</file>

<file path=docMetadata/LabelInfo.xml><?xml version="1.0" encoding="utf-8"?>
<clbl:labelList xmlns:clbl="http://schemas.microsoft.com/office/2020/mipLabelMetadata">
  <clbl:label id="{b14d86f1-83ba-4b13-a702-b5c0231b9337}" enabled="0" method="" siteId="{b14d86f1-83ba-4b13-a702-b5c0231b933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Title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Tshegofatso Lekabye</dc:creator>
  <cp:lastModifiedBy>Tshegofatso Lekabye</cp:lastModifiedBy>
  <cp:revision>10</cp:revision>
  <dcterms:created xsi:type="dcterms:W3CDTF">2025-02-04T06:41:40Z</dcterms:created>
  <dcterms:modified xsi:type="dcterms:W3CDTF">2025-02-04T08:23:37Z</dcterms:modified>
</cp:coreProperties>
</file>