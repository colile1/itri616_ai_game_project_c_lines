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F29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91" d="100"/>
          <a:sy n="91" d="100"/>
        </p:scale>
        <p:origin x="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BBC08-E79F-7040-8CD7-D268FC775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5FC8C9-99D9-903D-CE6E-DBBD5E993D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1BD387-1BA8-9074-AF7A-AFC937A7D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966A4-F9E1-4082-9BF6-427132D10FA3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087864-6017-99C9-D994-0EEEA1A2B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11324-82A9-53C8-45EF-CED24C310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F79A-2F49-45EB-A148-F0BEDE4BE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81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0CB43-D14B-4843-9B76-A82E1BB78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CDC29-78C2-0A1D-3ED7-91EB9F80C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6B6E4-F0A6-ACAC-C0BD-84B01C1DC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966A4-F9E1-4082-9BF6-427132D10FA3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376E1-1CF8-19E0-A1BC-093BEED3B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F83F3D-FDA2-88DE-1521-369D66291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F79A-2F49-45EB-A148-F0BEDE4BE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296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AB91E-719A-7A87-755C-9BD5D844E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0E143A-A9ED-6267-246E-D57FC0ACB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99E1C-822B-45B4-8D55-D910A0529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966A4-F9E1-4082-9BF6-427132D10FA3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97498-D67B-3C6A-6C2F-7A3B3CACB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B7EBA-B7CE-1FE5-714E-E0AC9F7EB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F79A-2F49-45EB-A148-F0BEDE4BE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795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C845B-00D3-86C3-A83D-DD0E4A8F0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6BEC6-C4E4-B2BE-1B8E-4F5BC81CDF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2A034F-85C0-F2F7-B6C3-81787945E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54C82D-CFF1-FEEC-88E1-D829B7709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966A4-F9E1-4082-9BF6-427132D10FA3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EDB3A4-CA03-1344-6ECC-76A48C66F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03E8E-01FE-EFB4-3EBC-E6D964849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F79A-2F49-45EB-A148-F0BEDE4BE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624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736D0-FF12-66A5-8D1E-3F8511181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1D6AB-B92D-33A9-EB86-D23A4267E7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C2AB5F-819F-836E-2107-961FA06CF5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488996-99C7-BA1D-3722-CE3AFDB034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68B816-6A4D-B432-3763-465301B647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959120-386C-E7C6-2422-29C070645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966A4-F9E1-4082-9BF6-427132D10FA3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A0B9E5-F780-748E-A4B4-C6426D85A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129619-C47A-6E28-690D-573DFD1B4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F79A-2F49-45EB-A148-F0BEDE4BE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75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E60B4-53A7-8A5E-81B4-F1FB79D10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F1918C-E9B7-EBFA-BEC0-CAFFF9B21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966A4-F9E1-4082-9BF6-427132D10FA3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D67FE0-E94F-8718-4641-50EB27712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FA0CD1-0E05-CBD8-D7F8-84D5BFDA2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F79A-2F49-45EB-A148-F0BEDE4BE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071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A738A3-534C-E327-546D-296D3E06F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966A4-F9E1-4082-9BF6-427132D10FA3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5C59B8-2111-125D-9E4B-71DDAF8E6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F5AC02-681C-AAB4-A3DC-00ABE8FAD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F79A-2F49-45EB-A148-F0BEDE4BE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806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66650-2894-1352-8A55-0C1235469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5DE14-2C37-6EEC-01D2-51CA238559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977555-CD7D-7D54-9586-E2B279723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4F9366-C4F7-0F80-96C9-C337F79EA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966A4-F9E1-4082-9BF6-427132D10FA3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A2F07B-3ECB-0BDC-370C-A25485DB4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90014D-B500-2A8D-025F-E8A5D17DC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F79A-2F49-45EB-A148-F0BEDE4BE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153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4A881-6D96-61B9-96AD-70118D3F1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948AD0-AF13-3E5A-EABA-F8F1F4ACC1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E6730E-9437-89A7-58A8-1AAF9F5CBB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3A682F-63F3-A2CD-78A0-01856CEC9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966A4-F9E1-4082-9BF6-427132D10FA3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DFCEFE-9AED-C52A-51E1-90A2CE3A0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7B7724-378C-1763-684D-B11749530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F79A-2F49-45EB-A148-F0BEDE4BE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897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85DE-9AB3-3792-2A2B-F0FEA9509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D564B1-18FF-BB19-9B40-76A62803EB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B277-24A9-6259-3B9C-873CC0628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966A4-F9E1-4082-9BF6-427132D10FA3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B150F-B42C-7F72-163C-1024DFAFE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D1D55-221F-11DD-E535-9ABCD47A4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F79A-2F49-45EB-A148-F0BEDE4BE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05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E19572-B251-3B55-BDFF-5A4C4BCD20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4B3B1C-3D52-773B-2BC9-7CAF85219C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67C81-BBC4-12F2-4C69-371781F33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966A4-F9E1-4082-9BF6-427132D10FA3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1973A-A739-5D01-18CD-77EA80860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765F69-913C-121A-5966-DFE44F835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0CF79A-2F49-45EB-A148-F0BEDE4BE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3087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12127D-5057-8E18-F077-6C4F91023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A6024-E2D4-7197-43DB-056A0DACB3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E391EA-DE72-D3B7-7B8E-3449D1BDB5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8966A4-F9E1-4082-9BF6-427132D10FA3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8A575-6B96-8A47-35F3-66CAA1053F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DED54-49D8-6C4D-4EBA-D237BC79F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0CF79A-2F49-45EB-A148-F0BEDE4BE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632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5400" b="1">
                <a:solidFill>
                  <a:srgbClr val="6C3D91"/>
                </a:solidFill>
                <a:latin typeface="Aptos Display"/>
              </a:rPr>
              <a:t>C_lines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>
                <a:solidFill>
                  <a:srgbClr val="222222"/>
                </a:solidFill>
                <a:latin typeface="Aptos"/>
              </a:rPr>
              <a:t>A self-play reinforcement-learning agent for an original board game — and quantitative evidence it improves with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5A60"/>
                </a:solidFill>
                <a:latin typeface="Aptos"/>
              </a:rPr>
              <a:t>ITRI 616 — Artificial Intelligence 1   ·   8×8 board · points-until-full · run_pts_002 (10,000 self-play games)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6C3D91"/>
                </a:solidFill>
                <a:latin typeface="Aptos Display"/>
              </a:rPr>
              <a:t>The game: C_lines on an 8×8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889C"/>
                </a:solidFill>
                <a:latin typeface="Aptos"/>
              </a:rPr>
              <a:t>PROBLEM DEFINITION</a:t>
            </a:r>
          </a:p>
        </p:txBody>
      </p:sp>
      <p:pic>
        <p:nvPicPr>
          <p:cNvPr id="4" name="Picture 3" descr="board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554480"/>
            <a:ext cx="4206240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Aptos"/>
              </a:rPr>
              <a:t>•  Open placement — players alternate, placing one stone on ANY empty cell; no gravity, no column rule.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Aptos"/>
              </a:rPr>
              <a:t>•  Board fills — play continues until all 64 cells are occupied.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Aptos"/>
              </a:rPr>
              <a:t>•  Line scoring — score for straight runs (any direction) of length 3–8; longer lines worth far more (3 → 0.25 … 8 → 5.0).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Aptos"/>
              </a:rPr>
              <a:t>•  Win condition — highest total score when the board fills; a tie-break removes draws.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6C3D91"/>
                </a:solidFill>
                <a:latin typeface="Aptos"/>
              </a:rPr>
              <a:t>•  Why it is hard — 64 opening moves; you must BUILD your own lines and BLOCK the opponent over a 64-move horizon. It is an original game, so no engine exists to copy.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6C3D91"/>
                </a:solidFill>
                <a:latin typeface="Aptos Display"/>
              </a:rPr>
              <a:t>The learning problem — Task · Experience ·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889C"/>
                </a:solidFill>
                <a:latin typeface="Aptos"/>
              </a:rPr>
              <a:t>PROBLEM DEFINITION &amp; TEP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640080" cy="640080"/>
          </a:xfrm>
          <a:prstGeom prst="rect">
            <a:avLst/>
          </a:prstGeom>
          <a:solidFill>
            <a:srgbClr val="6C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554480"/>
            <a:ext cx="2880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6C3D91"/>
                </a:solidFill>
                <a:latin typeface="Aptos"/>
              </a:rPr>
              <a:t>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3657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Choose the placement that maximises the final score margin (own − opponent). Category: sequential DECISION-MAKING / CONTROL — not classification, not prediction.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61688" y="1554480"/>
            <a:ext cx="640080" cy="640080"/>
          </a:xfrm>
          <a:prstGeom prst="rect">
            <a:avLst/>
          </a:prstGeom>
          <a:solidFill>
            <a:srgbClr val="008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1554480"/>
            <a:ext cx="2880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889C"/>
                </a:solidFill>
                <a:latin typeface="Aptos"/>
              </a:rPr>
              <a:t>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2377440"/>
            <a:ext cx="3657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Self-generated games: a short warm-up vs Random &amp; Heuristic, then SELF-PLAY against frozen past versions. As the agent improves, so do its opponents — an automatic curriculum.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66176" y="1554480"/>
            <a:ext cx="640080" cy="640080"/>
          </a:xfrm>
          <a:prstGeom prst="rect">
            <a:avLst/>
          </a:prstGeom>
          <a:solidFill>
            <a:srgbClr val="6C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3416" y="1554480"/>
            <a:ext cx="2880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6C3D91"/>
                </a:solidFill>
                <a:latin typeface="Aptos"/>
              </a:rPr>
              <a:t>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2377440"/>
            <a:ext cx="3657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Four metrics every 100 games: win rate vs Random, vs Heuristic, an Elo rating, and win rate vs a 4-ply Alpha-Beta search.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22222"/>
                </a:solidFill>
                <a:latin typeface="Aptos"/>
              </a:rPr>
              <a:t>Goal of the assignment: demonstrate that performance improves with experience.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6C3D91"/>
                </a:solidFill>
                <a:latin typeface="Aptos Display"/>
              </a:rPr>
              <a:t>The algorithm: a self-play Deep Q-Network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889C"/>
                </a:solidFill>
                <a:latin typeface="Aptos"/>
              </a:rPr>
              <a:t>TECHNICAL UNDERSTANDING &amp;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2286000" cy="868680"/>
          </a:xfrm>
          <a:prstGeom prst="rect">
            <a:avLst/>
          </a:prstGeom>
          <a:solidFill>
            <a:srgbClr val="6C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10-channel
board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7373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525A60"/>
                </a:solidFill>
                <a:latin typeface="Aptos"/>
              </a:rP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3337560" y="1508760"/>
            <a:ext cx="2286000" cy="868680"/>
          </a:xfrm>
          <a:prstGeom prst="rect">
            <a:avLst/>
          </a:prstGeom>
          <a:solidFill>
            <a:srgbClr val="008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Residual CNN
(4 blocks, 64ch)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7373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525A60"/>
                </a:solidFill>
                <a:latin typeface="Aptos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508760"/>
            <a:ext cx="2286000" cy="868680"/>
          </a:xfrm>
          <a:prstGeom prst="rect">
            <a:avLst/>
          </a:prstGeom>
          <a:solidFill>
            <a:srgbClr val="6C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Q-value
per cell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7373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525A60"/>
                </a:solidFill>
                <a:latin typeface="Aptos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15400" y="1508760"/>
            <a:ext cx="2286000" cy="868680"/>
          </a:xfrm>
          <a:prstGeom prst="rect">
            <a:avLst/>
          </a:prstGeom>
          <a:solidFill>
            <a:srgbClr val="008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ε-greedy
move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25A60"/>
                </a:solidFill>
                <a:latin typeface="Aptos"/>
              </a:rPr>
              <a:t>Learning loop: transitions are stored in a replay buffer and feed gradient updates.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5394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6C3D91"/>
                </a:solidFill>
                <a:latin typeface="Aptos"/>
              </a:rPr>
              <a:t>Why DQN?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•  Sequential control with delayed reward — a move's value only emerges when the board fills.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•  Q-learning's TD target is built for that credit assignment.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•  No labelled 'correct' moves exist for an original game, so supervised learning does not apply.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108960"/>
            <a:ext cx="5394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0889C"/>
                </a:solidFill>
                <a:latin typeface="Aptos"/>
              </a:rPr>
              <a:t>Reward design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•  Dense delta-score shaping: per-move change in (own − opponent) score.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•  Plus a terminal ±1 for the win / loss.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•  Perfectly aligned with the objective — every step points to the same goal as the final outcome.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6C3D91"/>
                </a:solidFill>
                <a:latin typeface="Aptos Display"/>
              </a:rPr>
              <a:t>Three implementation choices that make it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889C"/>
                </a:solidFill>
                <a:latin typeface="Aptos"/>
              </a:rPr>
              <a:t>TECHNICAL UNDERSTANDING &amp;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9728" cy="1143000"/>
          </a:xfrm>
          <a:prstGeom prst="rect">
            <a:avLst/>
          </a:prstGeom>
          <a:solidFill>
            <a:srgbClr val="6C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6C3D91"/>
                </a:solidFill>
                <a:latin typeface="Aptos"/>
              </a:rPr>
              <a:t>Negamax value target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The next position is the OPPONENT's, so the bootstrap is subtracted, not added:  target = r − γ·max Q(s′). The single most important correctness property of two-player value learning.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926080"/>
            <a:ext cx="109728" cy="1143000"/>
          </a:xfrm>
          <a:prstGeom prst="rect">
            <a:avLst/>
          </a:prstGeom>
          <a:solidFill>
            <a:srgbClr val="008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0889C"/>
                </a:solidFill>
                <a:latin typeface="Aptos"/>
              </a:rPr>
              <a:t>Double DQN + Huber loss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The online net selects the action, the target net evaluates it — cutting overestimation. Huber loss keeps updates stable against large TD errors. Together: no late-run collapse.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251960"/>
            <a:ext cx="109728" cy="1143000"/>
          </a:xfrm>
          <a:prstGeom prst="rect">
            <a:avLst/>
          </a:prstGeom>
          <a:solidFill>
            <a:srgbClr val="6C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4251960"/>
            <a:ext cx="10789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6C3D91"/>
                </a:solidFill>
                <a:latin typeface="Aptos"/>
              </a:rPr>
              <a:t>D4 symmetry augmentation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Every board is also 7 rotations / reflections — multiplying training data eight-fold for free and regularising toward the board's true symmetry.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5778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25A60"/>
                </a:solidFill>
                <a:latin typeface="Aptos"/>
              </a:rPr>
              <a:t>Plus: target-network sync, gradient clipping, plateau LR decay, and snapshotting every 1,000 games into 10 playable difficulty levels.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6C3D91"/>
                </a:solidFill>
                <a:latin typeface="Aptos Display"/>
              </a:rPr>
              <a:t>Result: performance improves with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889C"/>
                </a:solidFill>
                <a:latin typeface="Aptos"/>
              </a:rPr>
              <a:t>RESULTS PRESENTATION &amp; ANALYSIS</a:t>
            </a:r>
          </a:p>
        </p:txBody>
      </p:sp>
      <p:pic>
        <p:nvPicPr>
          <p:cNvPr id="4" name="Picture 3" descr="combined_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315200" cy="4130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73736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6C3D91"/>
                </a:solidFill>
                <a:latin typeface="Aptos"/>
              </a:rPr>
              <a:t>796 → 1190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25A60"/>
                </a:solidFill>
                <a:latin typeface="Aptos"/>
              </a:rPr>
              <a:t>Elo (monotone, +394)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10896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0889C"/>
                </a:solidFill>
                <a:latin typeface="Aptos"/>
              </a:rPr>
              <a:t>52.5% → 100%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25A60"/>
                </a:solidFill>
                <a:latin typeface="Aptos"/>
              </a:rPr>
              <a:t>Win rate vs Random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6C3D91"/>
                </a:solidFill>
                <a:latin typeface="Aptos"/>
              </a:rPr>
              <a:t>46% → 100%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25A60"/>
                </a:solidFill>
                <a:latin typeface="Aptos"/>
              </a:rPr>
              <a:t>Win rate vs Heuristic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6C3D91"/>
                </a:solidFill>
                <a:latin typeface="Aptos Display"/>
              </a:rPr>
              <a:t>The decisive test: beating a 4-ply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889C"/>
                </a:solidFill>
                <a:latin typeface="Aptos"/>
              </a:rPr>
              <a:t>RESULTS PRESENTATION &amp; ANALYSIS</a:t>
            </a:r>
          </a:p>
        </p:txBody>
      </p:sp>
      <p:pic>
        <p:nvPicPr>
          <p:cNvPr id="4" name="Picture 3" descr="benchmark_vs_alpha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3152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6C3D91"/>
                </a:solidFill>
                <a:latin typeface="Aptos"/>
              </a:rPr>
              <a:t>vs Alpha-Beta depth-4</a:t>
            </a:r>
          </a:p>
          <a:p>
            <a:pPr algn="l">
              <a:spcAft>
                <a:spcPts val="1600"/>
              </a:spcAft>
            </a:pPr>
            <a:r>
              <a:rPr sz="1300" b="0">
                <a:solidFill>
                  <a:srgbClr val="525A60"/>
                </a:solidFill>
                <a:latin typeface="Aptos"/>
              </a:rPr>
              <a:t>an opponent the agent NEVER trains against</a:t>
            </a:r>
          </a:p>
          <a:p>
            <a:pPr algn="l">
              <a:spcAft>
                <a:spcPts val="0"/>
              </a:spcAft>
            </a:pPr>
            <a:r>
              <a:rPr sz="2400" b="1">
                <a:solidFill>
                  <a:srgbClr val="00889C"/>
                </a:solidFill>
                <a:latin typeface="Aptos"/>
              </a:rPr>
              <a:t>19% → 100%</a:t>
            </a:r>
          </a:p>
          <a:p>
            <a:pPr algn="l">
              <a:spcAft>
                <a:spcPts val="1600"/>
              </a:spcAft>
            </a:pPr>
            <a:r>
              <a:rPr sz="1300" b="0">
                <a:solidFill>
                  <a:srgbClr val="525A60"/>
                </a:solidFill>
                <a:latin typeface="Aptos"/>
              </a:rPr>
              <a:t>win rate</a:t>
            </a:r>
          </a:p>
          <a:p>
            <a:pPr algn="l">
              <a:spcAft>
                <a:spcPts val="0"/>
              </a:spcAft>
            </a:pPr>
            <a:r>
              <a:rPr sz="2400" b="1">
                <a:solidFill>
                  <a:srgbClr val="6C3D91"/>
                </a:solidFill>
                <a:latin typeface="Aptos"/>
              </a:rPr>
              <a:t>−0.83 → +1.17</a:t>
            </a:r>
          </a:p>
          <a:p>
            <a:pPr algn="l">
              <a:spcAft>
                <a:spcPts val="1600"/>
              </a:spcAft>
            </a:pPr>
            <a:r>
              <a:rPr sz="1300" b="0">
                <a:solidFill>
                  <a:srgbClr val="525A60"/>
                </a:solidFill>
                <a:latin typeface="Aptos"/>
              </a:rPr>
              <a:t>mean score margin (sign flips)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  <a:latin typeface="Aptos"/>
              </a:rPr>
              <a:t>Winning by a margin against an independent search = genuine generalisation, not memorisation.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6C3D91"/>
                </a:solidFill>
                <a:latin typeface="Aptos Display"/>
              </a:rPr>
              <a:t>Critical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889C"/>
                </a:solidFill>
                <a:latin typeface="Aptos"/>
              </a:rPr>
              <a:t>CRITICAL THINKING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09728" cy="1920240"/>
          </a:xfrm>
          <a:prstGeom prst="rect">
            <a:avLst/>
          </a:prstGeom>
          <a:solidFill>
            <a:srgbClr val="6C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6C3D91"/>
                </a:solidFill>
                <a:latin typeface="Aptos"/>
              </a:rPr>
              <a:t>Model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Residual CNN matches local line patterns; tactical channels free the network to weigh threats, not relearn rules.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0" y="1645920"/>
            <a:ext cx="109728" cy="1920240"/>
          </a:xfrm>
          <a:prstGeom prst="rect">
            <a:avLst/>
          </a:prstGeom>
          <a:solidFill>
            <a:srgbClr val="008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889C"/>
                </a:solidFill>
                <a:latin typeface="Aptos"/>
              </a:rPr>
              <a:t>Method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Negamax target keeps the value function coherent; Double-DQN + Huber explain the stable, collapse-free convergence.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931920"/>
            <a:ext cx="109728" cy="1920240"/>
          </a:xfrm>
          <a:prstGeom prst="rect">
            <a:avLst/>
          </a:prstGeom>
          <a:solidFill>
            <a:srgbClr val="6C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93192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6C3D91"/>
                </a:solidFill>
                <a:latin typeface="Aptos"/>
              </a:rPr>
              <a:t>Results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Win rates saturate at 100% — Elo keeps resolving improvement; the per-snapshot noise is why Elo is the headline.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3931920"/>
            <a:ext cx="109728" cy="1920240"/>
          </a:xfrm>
          <a:prstGeom prst="rect">
            <a:avLst/>
          </a:prstGeom>
          <a:solidFill>
            <a:srgbClr val="008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393192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889C"/>
                </a:solidFill>
                <a:latin typeface="Aptos"/>
              </a:rPr>
              <a:t>Improve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Aptos"/>
              </a:rPr>
              <a:t>Multi-seed bands, n-step returns, an AlphaZero-style policy + MCTS head, and a deeper benchmark.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6C3D91"/>
                </a:solidFill>
                <a:latin typeface="Aptos Display"/>
              </a:rPr>
              <a:t>A self-play DQN learned an original board game — from a blank slate to out-playing a 4-ply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889C"/>
                </a:solidFill>
                <a:latin typeface="Aptos"/>
              </a:rPr>
              <a:t>IN ONE SENTENCE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6C3D91"/>
                </a:solidFill>
                <a:latin typeface="Aptos"/>
              </a:rPr>
              <a:t>1,190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25A60"/>
                </a:solidFill>
                <a:latin typeface="Aptos"/>
              </a:rPr>
              <a:t>final 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23774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6C3D91"/>
                </a:solidFill>
                <a:latin typeface="Aptos"/>
              </a:rPr>
              <a:t>100%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25A60"/>
                </a:solidFill>
                <a:latin typeface="Aptos"/>
              </a:rPr>
              <a:t>vs Random, Heuristic &amp; AB-d4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8" y="23774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6C3D91"/>
                </a:solidFill>
                <a:latin typeface="Aptos"/>
              </a:rPr>
              <a:t>10,000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25A60"/>
                </a:solidFill>
                <a:latin typeface="Aptos"/>
              </a:rPr>
              <a:t>self-play games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500" b="0">
                <a:solidFill>
                  <a:srgbClr val="222222"/>
                </a:solidFill>
                <a:latin typeface="Aptos"/>
              </a:rPr>
              <a:t>Clear, quantitative evidence that performance improves with experience. Every result is reproducible from the logged data with one command.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00889C"/>
                </a:solidFill>
                <a:latin typeface="Aptos"/>
              </a:rPr>
              <a:t>python -m src.training.train --games 10000 --size 8 --benchmark alphabeta_d4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6C3D91"/>
                </a:solidFill>
                <a:latin typeface="Aptos"/>
              </a:rPr>
              <a:t>Thank you - questions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WU colors">
      <a:dk1>
        <a:srgbClr val="6C3D91"/>
      </a:dk1>
      <a:lt1>
        <a:sysClr val="window" lastClr="FFFFFF"/>
      </a:lt1>
      <a:dk2>
        <a:srgbClr val="00889C"/>
      </a:dk2>
      <a:lt2>
        <a:srgbClr val="78848E"/>
      </a:lt2>
      <a:accent1>
        <a:srgbClr val="5F439A"/>
      </a:accent1>
      <a:accent2>
        <a:srgbClr val="036F77"/>
      </a:accent2>
      <a:accent3>
        <a:srgbClr val="78848E"/>
      </a:accent3>
      <a:accent4>
        <a:srgbClr val="C9CDD1"/>
      </a:accent4>
      <a:accent5>
        <a:srgbClr val="B8F5FF"/>
      </a:accent5>
      <a:accent6>
        <a:srgbClr val="525A60"/>
      </a:accent6>
      <a:hlink>
        <a:srgbClr val="00889C"/>
      </a:hlink>
      <a:folHlink>
        <a:srgbClr val="5F439A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+NWU_PPT_07" id="{513CC988-A299-4A5D-9630-3F3A67E2EF10}" vid="{CD618A1F-5143-4359-AEDD-D125CCE6987E}"/>
    </a:ext>
  </a:extLst>
</a:theme>
</file>

<file path=docMetadata/LabelInfo.xml><?xml version="1.0" encoding="utf-8"?>
<clbl:labelList xmlns:clbl="http://schemas.microsoft.com/office/2020/mipLabelMetadata">
  <clbl:label id="{b14d86f1-83ba-4b13-a702-b5c0231b9337}" enabled="0" method="" siteId="{b14d86f1-83ba-4b13-a702-b5c0231b933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Words>839</Words>
  <Application>Microsoft Office PowerPoint</Application>
  <PresentationFormat>Widescreen</PresentationFormat>
  <Paragraphs>87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C_lines</vt:lpstr>
      <vt:lpstr>The game: C_lines on an 8×8 board</vt:lpstr>
      <vt:lpstr>The learning problem — Task · Experience · Performance</vt:lpstr>
      <vt:lpstr>The algorithm: a self-play Deep Q-Network</vt:lpstr>
      <vt:lpstr>Three implementation choices that make it work</vt:lpstr>
      <vt:lpstr>Result: performance improves with experience</vt:lpstr>
      <vt:lpstr>The decisive test: beating a 4-ply search</vt:lpstr>
      <vt:lpstr>Critical analysis</vt:lpstr>
      <vt:lpstr>A self-play DQN learned an original board game — from a blank slate to out-playing a 4-ply search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Tshegofatso Lekabye</dc:creator>
  <cp:lastModifiedBy>colile s</cp:lastModifiedBy>
  <cp:revision>10</cp:revision>
  <dcterms:created xsi:type="dcterms:W3CDTF">2025-02-04T06:41:40Z</dcterms:created>
  <dcterms:modified xsi:type="dcterms:W3CDTF">2026-06-05T19:34:00Z</dcterms:modified>
</cp:coreProperties>
</file>