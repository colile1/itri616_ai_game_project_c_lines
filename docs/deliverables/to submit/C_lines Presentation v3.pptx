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91" d="100"/>
          <a:sy n="91" d="100"/>
        </p:scale>
        <p:origin x="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~18s  |  running 0:18]</a:t>
            </a:r>
          </a:p>
          <a:p>
            <a:r>
              <a:t>Note: full read is about 5 min 50 s. Sentences marked [OPTIONAL] can be cut to come in under 5 minutes.</a:t>
            </a:r>
          </a:p>
          <a:p/>
          <a:p>
            <a:r>
              <a:t>Hi. This project is C_lines, an original two-player board game I designed, and an agent that learns to play it well entirely by playing against itself. In the next few minutes I'll cover the problem, the algorithm, the evidence that it improves with experience, and a short critical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~40s  |  running 0:58]</a:t>
            </a:r>
          </a:p>
          <a:p>
            <a:r>
              <a:t>C_lines is played on an eight-by-eight board. Players take turns placing one stone on any empty cell; there's no gravity and no column rule, you can play anywhere. Play continues until the board is full, sixty-four stones. You score for straight lines of your own stones in any direction, and longer lines are worth disproportionately more, a line of three is a quarter point, scaling up to five points for a line of eight. Highest total score when the board fills wins. [OPTIONAL: What makes it hard is that every move you must both build your own lines and block your opponent's, over a sixty-four-move game, and because it's an original game there's no existing engine to copy.]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~62s  |  running 2:00]</a:t>
            </a:r>
          </a:p>
          <a:p>
            <a:r>
              <a:t>I framed this with Mitchell's Task, Experience, and Performance structure.</a:t>
            </a:r>
          </a:p>
          <a:p>
            <a:r>
              <a:t>The Task: given a board, choose the placement that maximises my final score margin, my score minus my opponent's. In category terms it's sequential decision-making and control, not classification and not prediction, because the agent has to act and its actions decide the outcome.</a:t>
            </a:r>
          </a:p>
          <a:p>
            <a:r>
              <a:t>The Experience is the heart of the design. The agent learns from four kinds of opponent, each for a different reason. Against a random opponent it sees a wide variety of positions, which builds basic competence and stops it overfitting to one style. Against the rule-based heuristic, which takes a winning four-in-a-row if it can, otherwise blocks the opponent's, otherwise just extends its own longest line, it is forced to learn real blocking and line-building. It also plays copies of itself at its current strength, which gives balanced, sharp games, and it plays frozen snapshots of its earlier selves from a growing pool, so it never forgets how to beat older strategies and always has an opponent near its own level, a curriculum that rises automatically. [OPTIONAL: The random and heuristic games dominate early to seed good habits; self-play and snapshots take over later to keep pushing the ceiling.]</a:t>
            </a:r>
          </a:p>
          <a:p>
            <a:r>
              <a:t>Performance is tracked four ways, every hundred games: win rate against random, against the heuristic, an Elo rating, and win rate against a four-ply alpha-beta 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~46s  |  running 2:46]</a:t>
            </a:r>
          </a:p>
          <a:p>
            <a:r>
              <a:t>The algorithm is a Deep Q-Network, abbreviated D-Q-N, which is value-based reinforcement learning. A neural network estimates the value of each possible move, and the agent plays the highest-valued legal cell. The board goes in as a ten-channel image: my stones, the opponent's stones, empty cells, and tactical layers such as where my open three-in-a-rows are. The network is a residual convolutional neural network, which is well suited to spotting line patterns. I chose a Deep Q-Network because this is sequential control with delayed reward, a move's true value only emerges when the board fills, and because there are no labelled correct moves for an original game, so supervised learning doesn't apply. [OPTIONAL: The reward is the per-move change in score margin, which is perfectly aligned with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~37s  |  running 3:23]</a:t>
            </a:r>
          </a:p>
          <a:p>
            <a:r>
              <a:t>Three choices made it work. First, the negamax value target: because the next position belongs to my opponent, its value is subtracted, not added. That is the single most important correctness detail in two-player value learning. Second, Double Deep Q-Network updates and a Huber loss keep the value estimates stable and prevent the late-training collapse that plain Deep Q-Networks suffer. Third, I exploit the board's eight-fold symmetry, every position is also seven rotations and reflections, which multiplies the training data for free. [OPTIONAL: And every thousand games I freeze a snapshot and register it as a playable difficulty level.]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~57s  |  running 4:20]</a:t>
            </a:r>
          </a:p>
          <a:p>
            <a:r>
              <a:t>Here's the core result, one run of ten thousand games. Win rate against random and against the heuristic both climb from about half to a hundred percent. The headline is the Elo rating, the purple curve, so let me explain how that is assigned, since it's the main metric. Elo is the rating idea from chess: you gain points for beating a higher-rated opponent and lose points for losing to a lower-rated one. I gave the reference opponents fixed ratings, random at six hundred, the heuristic at nine hundred, and the alpha-beta search at twelve hundred, and I started the agent at eight hundred. Every hundred games the agent plays twenty games against each fixed-rating opponent, and its rating is nudged up or down by the standard Elo formula based on how it scored. Because those reference opponents never improve, the agent's rating rises only when it genuinely beats them by more, here monotonically from 796 to 1190, with no collapse. [OPTIONAL: It also keeps measuring progress after the raw win rates have maxed out at a hundred percent.]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~30s  |  running 4:50]</a:t>
            </a:r>
          </a:p>
          <a:p>
            <a:r>
              <a:t>The strongest evidence is against the alpha-beta search, a classical look-ahead search to depth four that the agent never trains against. Early on it wins about nineteen percent and loses on score, by an average margin of minus zero point eight three. By the end it wins essentially a hundred percent, and the score margin flips to plus one point one seven. Winning by a margin against an independent search it cannot have memorised, the move tree is far too large, means the agent genuinely generalised.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~38s  |  running 5:28]</a:t>
            </a:r>
          </a:p>
          <a:p>
            <a:r>
              <a:t>A critical look, in four parts. The model: the residual network matches local line patterns, and the tactical input channels free it to weigh threats rather than relearn the rules. The method: the negamax target keeps the value function coherent, and the stability choices explain the smooth, collapse-free convergence. The results: the win rates saturate at a hundred percent, which is why I lean on the Elo rating, and the noise between individual checkpoints is why a single curve is more trustworthy than any one point. [OPTIONAL: To improve, I would repeat the run across several random seeds for confidence bands, use multi-step returns, and add a Monte-Carlo Tree Search policy head in the style of AlphaZero.]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~22s  |  running 5:50]</a:t>
            </a:r>
          </a:p>
          <a:p>
            <a:r>
              <a:t>In one sentence: a self-play Deep Q-Network learned an original board game, from a blank slate to out-playing a depth-four search, clear, quantitative evidence that performance improves with experience. Final Elo rating of eleven-ninety, a hundred percent against every fixed opponent, and every result reproducible from the logged data with one command.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5400" b="1">
                <a:solidFill>
                  <a:srgbClr val="6C3D91"/>
                </a:solidFill>
                <a:latin typeface="Aptos Display"/>
              </a:rPr>
              <a:t>C_lines</a:t>
            </a:r>
          </a:p>
        </p:txBody>
      </p:sp>
      <p:sp>
        <p:nvSpPr>
          <p:cNvPr id="3" name="Subtitle 2"/>
          <p:cNvSpPr>
            <a:spLocks noGrp="1"/>
          </p:cNvSpPr>
          <p:nvPr>
            <p:ph type="subTitle" idx="1"/>
          </p:nvPr>
        </p:nvSpPr>
        <p:spPr/>
        <p:txBody>
          <a:bodyPr/>
          <a:lstStyle/>
          <a:p>
            <a:r>
              <a:rPr sz="1800" dirty="0">
                <a:solidFill>
                  <a:srgbClr val="222222"/>
                </a:solidFill>
                <a:latin typeface="Aptos"/>
              </a:rPr>
              <a:t>A self-play reinforcement-learning agent for an original board game</a:t>
            </a:r>
          </a:p>
        </p:txBody>
      </p:sp>
      <p:sp>
        <p:nvSpPr>
          <p:cNvPr id="4" name="TextBox 3"/>
          <p:cNvSpPr txBox="1"/>
          <p:nvPr/>
        </p:nvSpPr>
        <p:spPr>
          <a:xfrm>
            <a:off x="1887795" y="4710635"/>
            <a:ext cx="8996516" cy="338554"/>
          </a:xfrm>
          <a:prstGeom prst="rect">
            <a:avLst/>
          </a:prstGeom>
          <a:noFill/>
        </p:spPr>
        <p:txBody>
          <a:bodyPr wrap="square">
            <a:spAutoFit/>
          </a:bodyPr>
          <a:lstStyle/>
          <a:p>
            <a:pPr algn="l">
              <a:spcAft>
                <a:spcPts val="600"/>
              </a:spcAft>
            </a:pPr>
            <a:r>
              <a:rPr sz="1600" b="0" dirty="0">
                <a:solidFill>
                  <a:srgbClr val="525A60"/>
                </a:solidFill>
                <a:latin typeface="Aptos"/>
              </a:rPr>
              <a:t>ITRI 616</a:t>
            </a:r>
            <a:r>
              <a:rPr lang="en-US" sz="1600" b="0" dirty="0">
                <a:solidFill>
                  <a:srgbClr val="525A60"/>
                </a:solidFill>
                <a:latin typeface="Aptos"/>
              </a:rPr>
              <a:t> </a:t>
            </a:r>
            <a:r>
              <a:rPr sz="1600" b="0" dirty="0">
                <a:solidFill>
                  <a:srgbClr val="525A60"/>
                </a:solidFill>
                <a:latin typeface="Aptos"/>
              </a:rPr>
              <a:t> Artificial Intelligence 1   ·   8×8 board · points-until-full · run_pts_002 (10,000 self-play games)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6C3D91"/>
                </a:solidFill>
                <a:latin typeface="Aptos Display"/>
              </a:rPr>
              <a:t>The game: C_lines on an 8×8 board</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a:t>
            </a:r>
          </a:p>
        </p:txBody>
      </p:sp>
      <p:sp>
        <p:nvSpPr>
          <p:cNvPr id="5" name="TextBox 4"/>
          <p:cNvSpPr txBox="1"/>
          <p:nvPr/>
        </p:nvSpPr>
        <p:spPr>
          <a:xfrm>
            <a:off x="457200" y="1554480"/>
            <a:ext cx="6035040" cy="3375283"/>
          </a:xfrm>
          <a:prstGeom prst="rect">
            <a:avLst/>
          </a:prstGeom>
          <a:noFill/>
        </p:spPr>
        <p:txBody>
          <a:bodyPr wrap="square">
            <a:spAutoFit/>
          </a:bodyPr>
          <a:lstStyle/>
          <a:p>
            <a:pPr algn="l">
              <a:spcAft>
                <a:spcPts val="1000"/>
              </a:spcAft>
            </a:pPr>
            <a:r>
              <a:rPr b="0" dirty="0">
                <a:solidFill>
                  <a:srgbClr val="222222"/>
                </a:solidFill>
                <a:latin typeface="Aptos"/>
              </a:rPr>
              <a:t>•  Open placement</a:t>
            </a:r>
            <a:r>
              <a:rPr lang="en-US" dirty="0">
                <a:solidFill>
                  <a:srgbClr val="222222"/>
                </a:solidFill>
                <a:latin typeface="Aptos"/>
              </a:rPr>
              <a:t>, </a:t>
            </a:r>
            <a:r>
              <a:rPr b="0" dirty="0">
                <a:solidFill>
                  <a:srgbClr val="222222"/>
                </a:solidFill>
                <a:latin typeface="Aptos"/>
              </a:rPr>
              <a:t>players alternate, placing one stone on ANY empty cell; no gravity, no column rule.</a:t>
            </a:r>
          </a:p>
          <a:p>
            <a:pPr algn="l">
              <a:spcAft>
                <a:spcPts val="1000"/>
              </a:spcAft>
            </a:pPr>
            <a:r>
              <a:rPr b="0" dirty="0">
                <a:solidFill>
                  <a:srgbClr val="222222"/>
                </a:solidFill>
                <a:latin typeface="Aptos"/>
              </a:rPr>
              <a:t>•  Board fills</a:t>
            </a:r>
            <a:r>
              <a:rPr lang="en-US" b="0" dirty="0">
                <a:solidFill>
                  <a:srgbClr val="222222"/>
                </a:solidFill>
                <a:latin typeface="Aptos"/>
              </a:rPr>
              <a:t>,</a:t>
            </a:r>
            <a:r>
              <a:rPr b="0" dirty="0">
                <a:solidFill>
                  <a:srgbClr val="222222"/>
                </a:solidFill>
                <a:latin typeface="Aptos"/>
              </a:rPr>
              <a:t> play continues until all 64 cells are occupied.</a:t>
            </a:r>
          </a:p>
          <a:p>
            <a:pPr algn="l">
              <a:spcAft>
                <a:spcPts val="1000"/>
              </a:spcAft>
            </a:pPr>
            <a:r>
              <a:rPr b="0" dirty="0">
                <a:solidFill>
                  <a:srgbClr val="222222"/>
                </a:solidFill>
                <a:latin typeface="Aptos"/>
              </a:rPr>
              <a:t>•  Line scoring </a:t>
            </a:r>
            <a:r>
              <a:rPr lang="en-US" b="0" dirty="0">
                <a:solidFill>
                  <a:srgbClr val="222222"/>
                </a:solidFill>
                <a:latin typeface="Aptos"/>
              </a:rPr>
              <a:t>,</a:t>
            </a:r>
            <a:r>
              <a:rPr b="0" dirty="0">
                <a:solidFill>
                  <a:srgbClr val="222222"/>
                </a:solidFill>
                <a:latin typeface="Aptos"/>
              </a:rPr>
              <a:t> score for straight runs (any direction) of length 3–8; longer lines worth far more (3 → 0.25 … 8 → 5.0).</a:t>
            </a:r>
          </a:p>
          <a:p>
            <a:pPr algn="l">
              <a:spcAft>
                <a:spcPts val="1000"/>
              </a:spcAft>
            </a:pPr>
            <a:r>
              <a:rPr b="0" dirty="0">
                <a:solidFill>
                  <a:srgbClr val="222222"/>
                </a:solidFill>
                <a:latin typeface="Aptos"/>
              </a:rPr>
              <a:t>•  Win condition</a:t>
            </a:r>
            <a:r>
              <a:rPr lang="en-US" b="0" dirty="0">
                <a:solidFill>
                  <a:srgbClr val="222222"/>
                </a:solidFill>
                <a:latin typeface="Aptos"/>
              </a:rPr>
              <a:t>, </a:t>
            </a:r>
            <a:r>
              <a:rPr b="0" dirty="0">
                <a:solidFill>
                  <a:srgbClr val="222222"/>
                </a:solidFill>
                <a:latin typeface="Aptos"/>
              </a:rPr>
              <a:t> highest total score when the board fills; a tie-break removes draws.</a:t>
            </a:r>
          </a:p>
          <a:p>
            <a:pPr algn="l">
              <a:spcAft>
                <a:spcPts val="600"/>
              </a:spcAft>
            </a:pPr>
            <a:r>
              <a:rPr b="0" dirty="0">
                <a:solidFill>
                  <a:schemeClr val="accent4">
                    <a:lumMod val="10000"/>
                  </a:schemeClr>
                </a:solidFill>
                <a:latin typeface="Aptos"/>
              </a:rPr>
              <a:t>•  </a:t>
            </a:r>
            <a:r>
              <a:rPr lang="en-US" b="0" dirty="0">
                <a:solidFill>
                  <a:schemeClr val="accent4">
                    <a:lumMod val="10000"/>
                  </a:schemeClr>
                </a:solidFill>
                <a:latin typeface="Aptos"/>
              </a:rPr>
              <a:t>There are possible</a:t>
            </a:r>
            <a:r>
              <a:rPr b="0" dirty="0">
                <a:solidFill>
                  <a:schemeClr val="accent4">
                    <a:lumMod val="10000"/>
                  </a:schemeClr>
                </a:solidFill>
                <a:latin typeface="Aptos"/>
              </a:rPr>
              <a:t> 64 opening moves; you must BUILD your own lines and BLOCK the opponent over a 64-move horizon.</a:t>
            </a:r>
          </a:p>
        </p:txBody>
      </p:sp>
      <p:pic>
        <p:nvPicPr>
          <p:cNvPr id="6" name="Picture 5">
            <a:extLst>
              <a:ext uri="{FF2B5EF4-FFF2-40B4-BE49-F238E27FC236}">
                <a16:creationId xmlns:a16="http://schemas.microsoft.com/office/drawing/2014/main" id="{0E207000-7CEE-D6A7-24B5-2AE562C1CF21}"/>
              </a:ext>
            </a:extLst>
          </p:cNvPr>
          <p:cNvPicPr>
            <a:picLocks noChangeAspect="1"/>
          </p:cNvPicPr>
          <p:nvPr/>
        </p:nvPicPr>
        <p:blipFill rotWithShape="1">
          <a:blip r:embed="rId2">
            <a:extLst>
              <a:ext uri="{28A0092B-C50C-407E-A947-70E740481C1C}">
                <a14:useLocalDpi xmlns:a14="http://schemas.microsoft.com/office/drawing/2010/main" val="0"/>
              </a:ext>
            </a:extLst>
          </a:blip>
          <a:srcRect l="606" t="18782" r="45070" b="19179"/>
          <a:stretch>
            <a:fillRect/>
          </a:stretch>
        </p:blipFill>
        <p:spPr bwMode="auto">
          <a:xfrm>
            <a:off x="6714490" y="1331088"/>
            <a:ext cx="5020310" cy="3822065"/>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402495"/>
            <a:ext cx="10515600" cy="1325563"/>
          </a:xfrm>
        </p:spPr>
        <p:txBody>
          <a:bodyPr/>
          <a:lstStyle/>
          <a:p>
            <a:r>
              <a:rPr sz="2600" b="1" dirty="0">
                <a:solidFill>
                  <a:srgbClr val="6C3D91"/>
                </a:solidFill>
                <a:latin typeface="Aptos Display"/>
              </a:rPr>
              <a:t>The learning problem</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 &amp; TEP FRAMEWORK</a:t>
            </a:r>
          </a:p>
        </p:txBody>
      </p:sp>
      <p:sp>
        <p:nvSpPr>
          <p:cNvPr id="4" name="Rectangle 3"/>
          <p:cNvSpPr/>
          <p:nvPr/>
        </p:nvSpPr>
        <p:spPr>
          <a:xfrm>
            <a:off x="457200"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T</a:t>
            </a:r>
          </a:p>
        </p:txBody>
      </p:sp>
      <p:sp>
        <p:nvSpPr>
          <p:cNvPr id="5" name="TextBox 4"/>
          <p:cNvSpPr txBox="1"/>
          <p:nvPr/>
        </p:nvSpPr>
        <p:spPr>
          <a:xfrm>
            <a:off x="1234440" y="1554480"/>
            <a:ext cx="2880360" cy="640080"/>
          </a:xfrm>
          <a:prstGeom prst="rect">
            <a:avLst/>
          </a:prstGeom>
          <a:noFill/>
        </p:spPr>
        <p:txBody>
          <a:bodyPr wrap="square">
            <a:spAutoFit/>
          </a:bodyPr>
          <a:lstStyle/>
          <a:p>
            <a:pPr algn="l">
              <a:spcAft>
                <a:spcPts val="600"/>
              </a:spcAft>
            </a:pPr>
            <a:r>
              <a:rPr sz="1800" b="1">
                <a:solidFill>
                  <a:srgbClr val="6C3D91"/>
                </a:solidFill>
                <a:latin typeface="Aptos"/>
              </a:rPr>
              <a:t>Task</a:t>
            </a:r>
          </a:p>
        </p:txBody>
      </p:sp>
      <p:sp>
        <p:nvSpPr>
          <p:cNvPr id="6" name="TextBox 5"/>
          <p:cNvSpPr txBox="1"/>
          <p:nvPr/>
        </p:nvSpPr>
        <p:spPr>
          <a:xfrm>
            <a:off x="457200" y="2377440"/>
            <a:ext cx="3657600" cy="954107"/>
          </a:xfrm>
          <a:prstGeom prst="rect">
            <a:avLst/>
          </a:prstGeom>
          <a:noFill/>
        </p:spPr>
        <p:txBody>
          <a:bodyPr wrap="square">
            <a:spAutoFit/>
          </a:bodyPr>
          <a:lstStyle/>
          <a:p>
            <a:pPr algn="l">
              <a:spcAft>
                <a:spcPts val="600"/>
              </a:spcAft>
            </a:pPr>
            <a:r>
              <a:rPr sz="1400" b="0" dirty="0">
                <a:solidFill>
                  <a:srgbClr val="222222"/>
                </a:solidFill>
                <a:latin typeface="Aptos"/>
              </a:rPr>
              <a:t>Choose the placement that </a:t>
            </a:r>
            <a:r>
              <a:rPr sz="1400" b="0" dirty="0" err="1">
                <a:solidFill>
                  <a:srgbClr val="222222"/>
                </a:solidFill>
                <a:latin typeface="Aptos"/>
              </a:rPr>
              <a:t>maximises</a:t>
            </a:r>
            <a:r>
              <a:rPr sz="1400" b="0" dirty="0">
                <a:solidFill>
                  <a:srgbClr val="222222"/>
                </a:solidFill>
                <a:latin typeface="Aptos"/>
              </a:rPr>
              <a:t> the final score margin (own − opponent). Category: sequential DECISION-MAKING / CONTROL</a:t>
            </a:r>
          </a:p>
        </p:txBody>
      </p:sp>
      <p:sp>
        <p:nvSpPr>
          <p:cNvPr id="7" name="Rectangle 6"/>
          <p:cNvSpPr/>
          <p:nvPr/>
        </p:nvSpPr>
        <p:spPr>
          <a:xfrm>
            <a:off x="4361688" y="1554480"/>
            <a:ext cx="640080" cy="6400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E</a:t>
            </a:r>
          </a:p>
        </p:txBody>
      </p:sp>
      <p:sp>
        <p:nvSpPr>
          <p:cNvPr id="8" name="TextBox 7"/>
          <p:cNvSpPr txBox="1"/>
          <p:nvPr/>
        </p:nvSpPr>
        <p:spPr>
          <a:xfrm>
            <a:off x="5138928" y="1554480"/>
            <a:ext cx="2880360" cy="640080"/>
          </a:xfrm>
          <a:prstGeom prst="rect">
            <a:avLst/>
          </a:prstGeom>
          <a:noFill/>
        </p:spPr>
        <p:txBody>
          <a:bodyPr wrap="square">
            <a:spAutoFit/>
          </a:bodyPr>
          <a:lstStyle/>
          <a:p>
            <a:pPr algn="l">
              <a:spcAft>
                <a:spcPts val="600"/>
              </a:spcAft>
            </a:pPr>
            <a:r>
              <a:rPr sz="1800" b="1">
                <a:solidFill>
                  <a:srgbClr val="00889C"/>
                </a:solidFill>
                <a:latin typeface="Aptos"/>
              </a:rPr>
              <a:t>Experience</a:t>
            </a:r>
          </a:p>
        </p:txBody>
      </p:sp>
      <p:sp>
        <p:nvSpPr>
          <p:cNvPr id="9" name="TextBox 8"/>
          <p:cNvSpPr txBox="1"/>
          <p:nvPr/>
        </p:nvSpPr>
        <p:spPr>
          <a:xfrm>
            <a:off x="4361688" y="2377440"/>
            <a:ext cx="3657600" cy="954107"/>
          </a:xfrm>
          <a:prstGeom prst="rect">
            <a:avLst/>
          </a:prstGeom>
          <a:noFill/>
        </p:spPr>
        <p:txBody>
          <a:bodyPr wrap="square">
            <a:spAutoFit/>
          </a:bodyPr>
          <a:lstStyle/>
          <a:p>
            <a:pPr algn="l">
              <a:spcAft>
                <a:spcPts val="600"/>
              </a:spcAft>
            </a:pPr>
            <a:r>
              <a:rPr sz="1400" b="0" dirty="0">
                <a:solidFill>
                  <a:srgbClr val="222222"/>
                </a:solidFill>
                <a:latin typeface="Aptos"/>
              </a:rPr>
              <a:t>Self-generated games: a short warm-up vs Random &amp; Heuristic, then SELF-PLAY against frozen past versions. As the agent improves, so do its opponent</a:t>
            </a:r>
            <a:r>
              <a:rPr lang="en-ZA" sz="1400" b="0" dirty="0">
                <a:solidFill>
                  <a:srgbClr val="222222"/>
                </a:solidFill>
                <a:latin typeface="Aptos"/>
              </a:rPr>
              <a:t>s</a:t>
            </a:r>
            <a:endParaRPr sz="1400" b="0" dirty="0">
              <a:solidFill>
                <a:srgbClr val="222222"/>
              </a:solidFill>
              <a:latin typeface="Aptos"/>
            </a:endParaRPr>
          </a:p>
        </p:txBody>
      </p:sp>
      <p:sp>
        <p:nvSpPr>
          <p:cNvPr id="10" name="Rectangle 9"/>
          <p:cNvSpPr/>
          <p:nvPr/>
        </p:nvSpPr>
        <p:spPr>
          <a:xfrm>
            <a:off x="8266176"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P</a:t>
            </a:r>
          </a:p>
        </p:txBody>
      </p:sp>
      <p:sp>
        <p:nvSpPr>
          <p:cNvPr id="11" name="TextBox 10"/>
          <p:cNvSpPr txBox="1"/>
          <p:nvPr/>
        </p:nvSpPr>
        <p:spPr>
          <a:xfrm>
            <a:off x="9043416" y="1554480"/>
            <a:ext cx="2880360" cy="640080"/>
          </a:xfrm>
          <a:prstGeom prst="rect">
            <a:avLst/>
          </a:prstGeom>
          <a:noFill/>
        </p:spPr>
        <p:txBody>
          <a:bodyPr wrap="square">
            <a:spAutoFit/>
          </a:bodyPr>
          <a:lstStyle/>
          <a:p>
            <a:pPr algn="l">
              <a:spcAft>
                <a:spcPts val="600"/>
              </a:spcAft>
            </a:pPr>
            <a:r>
              <a:rPr sz="1800" b="1">
                <a:solidFill>
                  <a:srgbClr val="6C3D91"/>
                </a:solidFill>
                <a:latin typeface="Aptos"/>
              </a:rPr>
              <a:t>Performance</a:t>
            </a:r>
          </a:p>
        </p:txBody>
      </p:sp>
      <p:sp>
        <p:nvSpPr>
          <p:cNvPr id="12" name="TextBox 11"/>
          <p:cNvSpPr txBox="1"/>
          <p:nvPr/>
        </p:nvSpPr>
        <p:spPr>
          <a:xfrm>
            <a:off x="8266176" y="2377440"/>
            <a:ext cx="3657600" cy="3291840"/>
          </a:xfrm>
          <a:prstGeom prst="rect">
            <a:avLst/>
          </a:prstGeom>
          <a:noFill/>
        </p:spPr>
        <p:txBody>
          <a:bodyPr wrap="square">
            <a:spAutoFit/>
          </a:bodyPr>
          <a:lstStyle/>
          <a:p>
            <a:pPr algn="l">
              <a:spcAft>
                <a:spcPts val="600"/>
              </a:spcAft>
            </a:pPr>
            <a:r>
              <a:rPr sz="1400" b="0">
                <a:solidFill>
                  <a:srgbClr val="222222"/>
                </a:solidFill>
                <a:latin typeface="Aptos"/>
              </a:rPr>
              <a:t>Four metrics every 100 games: win rate vs Random, vs Heuristic, an Elo rating, and win rate vs a 4-ply Alpha-Beta search.</a:t>
            </a:r>
          </a:p>
        </p:txBody>
      </p:sp>
      <p:sp>
        <p:nvSpPr>
          <p:cNvPr id="13" name="TextBox 12"/>
          <p:cNvSpPr txBox="1"/>
          <p:nvPr/>
        </p:nvSpPr>
        <p:spPr>
          <a:xfrm>
            <a:off x="457200" y="5852160"/>
            <a:ext cx="11247120" cy="548640"/>
          </a:xfrm>
          <a:prstGeom prst="rect">
            <a:avLst/>
          </a:prstGeom>
          <a:noFill/>
        </p:spPr>
        <p:txBody>
          <a:bodyPr wrap="square">
            <a:spAutoFit/>
          </a:bodyPr>
          <a:lstStyle/>
          <a:p>
            <a:pPr algn="l">
              <a:spcAft>
                <a:spcPts val="600"/>
              </a:spcAft>
            </a:pPr>
            <a:r>
              <a:rPr sz="1500" b="1" dirty="0">
                <a:solidFill>
                  <a:srgbClr val="222222"/>
                </a:solidFill>
                <a:latin typeface="Aptos"/>
              </a:rPr>
              <a:t>Goal of the assignment: demonstrate that performance improves with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a:solidFill>
                  <a:srgbClr val="6C3D91"/>
                </a:solidFill>
                <a:latin typeface="Aptos Display"/>
              </a:rPr>
              <a:t>The algorithm: a self-play Deep Q-Network</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TECHNICAL UNDERSTANDING &amp; METHODOLOGY</a:t>
            </a:r>
          </a:p>
        </p:txBody>
      </p:sp>
      <p:sp>
        <p:nvSpPr>
          <p:cNvPr id="4" name="Rectangle 3"/>
          <p:cNvSpPr/>
          <p:nvPr/>
        </p:nvSpPr>
        <p:spPr>
          <a:xfrm>
            <a:off x="54864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10-channel
board state</a:t>
            </a:r>
          </a:p>
        </p:txBody>
      </p:sp>
      <p:sp>
        <p:nvSpPr>
          <p:cNvPr id="5" name="TextBox 4"/>
          <p:cNvSpPr txBox="1"/>
          <p:nvPr/>
        </p:nvSpPr>
        <p:spPr>
          <a:xfrm>
            <a:off x="283464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6" name="Rectangle 5"/>
          <p:cNvSpPr/>
          <p:nvPr/>
        </p:nvSpPr>
        <p:spPr>
          <a:xfrm>
            <a:off x="333756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Residual CNN
(4 blocks, 64ch)</a:t>
            </a:r>
          </a:p>
        </p:txBody>
      </p:sp>
      <p:sp>
        <p:nvSpPr>
          <p:cNvPr id="7" name="TextBox 6"/>
          <p:cNvSpPr txBox="1"/>
          <p:nvPr/>
        </p:nvSpPr>
        <p:spPr>
          <a:xfrm>
            <a:off x="562356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8" name="Rectangle 7"/>
          <p:cNvSpPr/>
          <p:nvPr/>
        </p:nvSpPr>
        <p:spPr>
          <a:xfrm>
            <a:off x="612648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Q-value
per cell</a:t>
            </a:r>
          </a:p>
        </p:txBody>
      </p:sp>
      <p:sp>
        <p:nvSpPr>
          <p:cNvPr id="9" name="TextBox 8"/>
          <p:cNvSpPr txBox="1"/>
          <p:nvPr/>
        </p:nvSpPr>
        <p:spPr>
          <a:xfrm>
            <a:off x="841248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10" name="Rectangle 9"/>
          <p:cNvSpPr/>
          <p:nvPr/>
        </p:nvSpPr>
        <p:spPr>
          <a:xfrm>
            <a:off x="891540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ε-greedy
move</a:t>
            </a:r>
          </a:p>
        </p:txBody>
      </p:sp>
      <p:sp>
        <p:nvSpPr>
          <p:cNvPr id="11" name="TextBox 10"/>
          <p:cNvSpPr txBox="1"/>
          <p:nvPr/>
        </p:nvSpPr>
        <p:spPr>
          <a:xfrm>
            <a:off x="548640" y="2514600"/>
            <a:ext cx="10972800" cy="369332"/>
          </a:xfrm>
          <a:prstGeom prst="rect">
            <a:avLst/>
          </a:prstGeom>
          <a:noFill/>
        </p:spPr>
        <p:txBody>
          <a:bodyPr wrap="square">
            <a:spAutoFit/>
          </a:bodyPr>
          <a:lstStyle/>
          <a:p>
            <a:pPr algn="l">
              <a:spcAft>
                <a:spcPts val="600"/>
              </a:spcAft>
            </a:pPr>
            <a:r>
              <a:rPr b="0" dirty="0">
                <a:solidFill>
                  <a:srgbClr val="525A60"/>
                </a:solidFill>
                <a:latin typeface="Aptos"/>
              </a:rPr>
              <a:t>Learning loop: transitions are stored in a replay buffer and feed gradient updates.</a:t>
            </a:r>
          </a:p>
        </p:txBody>
      </p:sp>
      <p:sp>
        <p:nvSpPr>
          <p:cNvPr id="12" name="TextBox 11"/>
          <p:cNvSpPr txBox="1"/>
          <p:nvPr/>
        </p:nvSpPr>
        <p:spPr>
          <a:xfrm>
            <a:off x="548640" y="3108960"/>
            <a:ext cx="5394960" cy="2908489"/>
          </a:xfrm>
          <a:prstGeom prst="rect">
            <a:avLst/>
          </a:prstGeom>
          <a:noFill/>
        </p:spPr>
        <p:txBody>
          <a:bodyPr wrap="square">
            <a:spAutoFit/>
          </a:bodyPr>
          <a:lstStyle/>
          <a:p>
            <a:pPr algn="l">
              <a:spcAft>
                <a:spcPts val="600"/>
              </a:spcAft>
            </a:pPr>
            <a:r>
              <a:rPr sz="2800" b="1" dirty="0">
                <a:solidFill>
                  <a:srgbClr val="6C3D91"/>
                </a:solidFill>
                <a:latin typeface="Aptos"/>
              </a:rPr>
              <a:t>Why DQN?</a:t>
            </a:r>
          </a:p>
          <a:p>
            <a:pPr algn="l">
              <a:spcAft>
                <a:spcPts val="600"/>
              </a:spcAft>
            </a:pPr>
            <a:r>
              <a:rPr sz="2000" b="0" dirty="0">
                <a:solidFill>
                  <a:srgbClr val="222222"/>
                </a:solidFill>
                <a:latin typeface="Aptos"/>
              </a:rPr>
              <a:t>•  Sequential control with delayed reward</a:t>
            </a:r>
            <a:r>
              <a:rPr lang="en-US" sz="2000" b="0" dirty="0">
                <a:solidFill>
                  <a:srgbClr val="222222"/>
                </a:solidFill>
                <a:latin typeface="Aptos"/>
              </a:rPr>
              <a:t>, </a:t>
            </a:r>
            <a:r>
              <a:rPr sz="2000" b="0" dirty="0">
                <a:solidFill>
                  <a:srgbClr val="222222"/>
                </a:solidFill>
                <a:latin typeface="Aptos"/>
              </a:rPr>
              <a:t>a move's value only emerges when the board fills.</a:t>
            </a:r>
          </a:p>
          <a:p>
            <a:pPr algn="l">
              <a:spcAft>
                <a:spcPts val="600"/>
              </a:spcAft>
            </a:pPr>
            <a:r>
              <a:rPr sz="2000" b="0" dirty="0">
                <a:solidFill>
                  <a:srgbClr val="222222"/>
                </a:solidFill>
                <a:latin typeface="Aptos"/>
              </a:rPr>
              <a:t>•  Q-learning's TD target is built for that credit assignment.</a:t>
            </a:r>
          </a:p>
          <a:p>
            <a:pPr algn="l">
              <a:spcAft>
                <a:spcPts val="600"/>
              </a:spcAft>
            </a:pPr>
            <a:r>
              <a:rPr sz="2000" b="0" dirty="0">
                <a:solidFill>
                  <a:srgbClr val="222222"/>
                </a:solidFill>
                <a:latin typeface="Aptos"/>
              </a:rPr>
              <a:t>•  No labelled 'correct' moves exist for an original game, so supervised learning does not apply.</a:t>
            </a:r>
          </a:p>
        </p:txBody>
      </p:sp>
      <p:sp>
        <p:nvSpPr>
          <p:cNvPr id="13" name="TextBox 12"/>
          <p:cNvSpPr txBox="1"/>
          <p:nvPr/>
        </p:nvSpPr>
        <p:spPr>
          <a:xfrm>
            <a:off x="6217920" y="3108960"/>
            <a:ext cx="5394960" cy="2292935"/>
          </a:xfrm>
          <a:prstGeom prst="rect">
            <a:avLst/>
          </a:prstGeom>
          <a:noFill/>
        </p:spPr>
        <p:txBody>
          <a:bodyPr wrap="square">
            <a:spAutoFit/>
          </a:bodyPr>
          <a:lstStyle/>
          <a:p>
            <a:pPr algn="l">
              <a:spcAft>
                <a:spcPts val="600"/>
              </a:spcAft>
            </a:pPr>
            <a:r>
              <a:rPr sz="2800" b="1" dirty="0">
                <a:solidFill>
                  <a:srgbClr val="00889C"/>
                </a:solidFill>
                <a:latin typeface="Aptos"/>
              </a:rPr>
              <a:t>Reward design</a:t>
            </a:r>
          </a:p>
          <a:p>
            <a:pPr algn="l">
              <a:spcAft>
                <a:spcPts val="600"/>
              </a:spcAft>
            </a:pPr>
            <a:r>
              <a:rPr sz="2000" b="0" dirty="0">
                <a:solidFill>
                  <a:srgbClr val="222222"/>
                </a:solidFill>
                <a:latin typeface="Aptos"/>
              </a:rPr>
              <a:t>•  Dense delta-score shaping: per-move change in (own − opponent) score.</a:t>
            </a:r>
          </a:p>
          <a:p>
            <a:pPr algn="l">
              <a:spcAft>
                <a:spcPts val="600"/>
              </a:spcAft>
            </a:pPr>
            <a:r>
              <a:rPr sz="2000" b="0" dirty="0">
                <a:solidFill>
                  <a:srgbClr val="222222"/>
                </a:solidFill>
                <a:latin typeface="Aptos"/>
              </a:rPr>
              <a:t>•  Plus a terminal ±1 for the win / loss.</a:t>
            </a:r>
          </a:p>
          <a:p>
            <a:pPr algn="l">
              <a:spcAft>
                <a:spcPts val="600"/>
              </a:spcAft>
            </a:pPr>
            <a:r>
              <a:rPr sz="2000" b="0" dirty="0">
                <a:solidFill>
                  <a:srgbClr val="222222"/>
                </a:solidFill>
                <a:latin typeface="Aptos"/>
              </a:rPr>
              <a:t>•  </a:t>
            </a:r>
            <a:r>
              <a:rPr lang="en-ZA" sz="2000" dirty="0">
                <a:solidFill>
                  <a:srgbClr val="222222"/>
                </a:solidFill>
                <a:latin typeface="Aptos"/>
              </a:rPr>
              <a:t>E</a:t>
            </a:r>
            <a:r>
              <a:rPr sz="2000" b="0" dirty="0">
                <a:solidFill>
                  <a:srgbClr val="222222"/>
                </a:solidFill>
                <a:latin typeface="Aptos"/>
              </a:rPr>
              <a:t>very step points to the same goal as the final outcome.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a:solidFill>
                  <a:srgbClr val="6C3D91"/>
                </a:solidFill>
                <a:latin typeface="Aptos Display"/>
              </a:rPr>
              <a:t>Three implementation choices that make it work</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TECHNICAL UNDERSTANDING &amp; METHODOLOGY</a:t>
            </a:r>
          </a:p>
        </p:txBody>
      </p:sp>
      <p:sp>
        <p:nvSpPr>
          <p:cNvPr id="4" name="Rectangle 3"/>
          <p:cNvSpPr/>
          <p:nvPr/>
        </p:nvSpPr>
        <p:spPr>
          <a:xfrm>
            <a:off x="548640" y="160020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976524" y="1899768"/>
            <a:ext cx="10789920" cy="777136"/>
          </a:xfrm>
          <a:prstGeom prst="rect">
            <a:avLst/>
          </a:prstGeom>
          <a:noFill/>
        </p:spPr>
        <p:txBody>
          <a:bodyPr wrap="square">
            <a:spAutoFit/>
          </a:bodyPr>
          <a:lstStyle/>
          <a:p>
            <a:pPr algn="l">
              <a:spcAft>
                <a:spcPts val="300"/>
              </a:spcAft>
            </a:pPr>
            <a:r>
              <a:rPr sz="2400" b="1" dirty="0" err="1">
                <a:solidFill>
                  <a:srgbClr val="6C3D91"/>
                </a:solidFill>
                <a:latin typeface="Aptos"/>
              </a:rPr>
              <a:t>Negamax</a:t>
            </a:r>
            <a:r>
              <a:rPr sz="2400" b="1" dirty="0">
                <a:solidFill>
                  <a:srgbClr val="6C3D91"/>
                </a:solidFill>
                <a:latin typeface="Aptos"/>
              </a:rPr>
              <a:t> value target</a:t>
            </a:r>
          </a:p>
          <a:p>
            <a:pPr algn="l">
              <a:spcAft>
                <a:spcPts val="600"/>
              </a:spcAft>
            </a:pPr>
            <a:r>
              <a:rPr b="0" dirty="0">
                <a:solidFill>
                  <a:srgbClr val="222222"/>
                </a:solidFill>
                <a:latin typeface="Aptos"/>
              </a:rPr>
              <a:t>The next position is the OPPONENT's, so the bootstrap is subtracted, not added:  target = r − </a:t>
            </a:r>
            <a:r>
              <a:rPr b="0" dirty="0" err="1">
                <a:solidFill>
                  <a:srgbClr val="222222"/>
                </a:solidFill>
                <a:latin typeface="Aptos"/>
              </a:rPr>
              <a:t>γ·max</a:t>
            </a:r>
            <a:r>
              <a:rPr b="0" dirty="0">
                <a:solidFill>
                  <a:srgbClr val="222222"/>
                </a:solidFill>
                <a:latin typeface="Aptos"/>
              </a:rPr>
              <a:t> Q(s′). </a:t>
            </a:r>
          </a:p>
        </p:txBody>
      </p:sp>
      <p:sp>
        <p:nvSpPr>
          <p:cNvPr id="6" name="Rectangle 5"/>
          <p:cNvSpPr/>
          <p:nvPr/>
        </p:nvSpPr>
        <p:spPr>
          <a:xfrm>
            <a:off x="548640" y="2926080"/>
            <a:ext cx="109728" cy="114300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2926080"/>
            <a:ext cx="10789920" cy="1054135"/>
          </a:xfrm>
          <a:prstGeom prst="rect">
            <a:avLst/>
          </a:prstGeom>
          <a:noFill/>
        </p:spPr>
        <p:txBody>
          <a:bodyPr wrap="square">
            <a:spAutoFit/>
          </a:bodyPr>
          <a:lstStyle/>
          <a:p>
            <a:pPr algn="l">
              <a:spcAft>
                <a:spcPts val="300"/>
              </a:spcAft>
            </a:pPr>
            <a:r>
              <a:rPr sz="2400" b="1">
                <a:solidFill>
                  <a:srgbClr val="00889C"/>
                </a:solidFill>
                <a:latin typeface="Aptos"/>
              </a:rPr>
              <a:t>Double DQN + Huber loss</a:t>
            </a:r>
          </a:p>
          <a:p>
            <a:pPr algn="l">
              <a:spcAft>
                <a:spcPts val="600"/>
              </a:spcAft>
            </a:pPr>
            <a:r>
              <a:rPr b="0">
                <a:solidFill>
                  <a:srgbClr val="222222"/>
                </a:solidFill>
                <a:latin typeface="Aptos"/>
              </a:rPr>
              <a:t>The online net selects the action, the target net evaluates it — cutting overestimation. Huber loss keeps updates stable against large TD errors. Together: no late-run collapse.</a:t>
            </a:r>
          </a:p>
        </p:txBody>
      </p:sp>
      <p:sp>
        <p:nvSpPr>
          <p:cNvPr id="8" name="Rectangle 7"/>
          <p:cNvSpPr/>
          <p:nvPr/>
        </p:nvSpPr>
        <p:spPr>
          <a:xfrm>
            <a:off x="548640" y="425196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4251960"/>
            <a:ext cx="10789920" cy="1054135"/>
          </a:xfrm>
          <a:prstGeom prst="rect">
            <a:avLst/>
          </a:prstGeom>
          <a:noFill/>
        </p:spPr>
        <p:txBody>
          <a:bodyPr wrap="square">
            <a:spAutoFit/>
          </a:bodyPr>
          <a:lstStyle/>
          <a:p>
            <a:pPr algn="l">
              <a:spcAft>
                <a:spcPts val="300"/>
              </a:spcAft>
            </a:pPr>
            <a:r>
              <a:rPr sz="2400" b="1">
                <a:solidFill>
                  <a:srgbClr val="6C3D91"/>
                </a:solidFill>
                <a:latin typeface="Aptos"/>
              </a:rPr>
              <a:t>D4 symmetry augmentation</a:t>
            </a:r>
          </a:p>
          <a:p>
            <a:pPr algn="l">
              <a:spcAft>
                <a:spcPts val="600"/>
              </a:spcAft>
            </a:pPr>
            <a:r>
              <a:rPr b="0">
                <a:solidFill>
                  <a:srgbClr val="222222"/>
                </a:solidFill>
                <a:latin typeface="Aptos"/>
              </a:rPr>
              <a:t>Every board is also 7 rotations / reflections — multiplying training data eight-fold for free and regularising toward the board's true symmetry.</a:t>
            </a:r>
          </a:p>
        </p:txBody>
      </p:sp>
      <p:sp>
        <p:nvSpPr>
          <p:cNvPr id="10" name="TextBox 9"/>
          <p:cNvSpPr txBox="1"/>
          <p:nvPr/>
        </p:nvSpPr>
        <p:spPr>
          <a:xfrm>
            <a:off x="822960" y="5577840"/>
            <a:ext cx="10789920" cy="584775"/>
          </a:xfrm>
          <a:prstGeom prst="rect">
            <a:avLst/>
          </a:prstGeom>
          <a:noFill/>
        </p:spPr>
        <p:txBody>
          <a:bodyPr wrap="square">
            <a:spAutoFit/>
          </a:bodyPr>
          <a:lstStyle/>
          <a:p>
            <a:pPr algn="l">
              <a:spcAft>
                <a:spcPts val="600"/>
              </a:spcAft>
            </a:pPr>
            <a:r>
              <a:rPr sz="1600" b="0">
                <a:solidFill>
                  <a:srgbClr val="525A60"/>
                </a:solidFill>
                <a:latin typeface="Aptos"/>
              </a:rPr>
              <a:t>Plus: target-network sync, gradient clipping, plateau LR decay, and snapshotting every 1,000 games into 10 playable difficulty levels.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Result: performance improves with experience</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combined_progress.png"/>
          <p:cNvPicPr>
            <a:picLocks noChangeAspect="1"/>
          </p:cNvPicPr>
          <p:nvPr/>
        </p:nvPicPr>
        <p:blipFill>
          <a:blip r:embed="rId2"/>
          <a:stretch>
            <a:fillRect/>
          </a:stretch>
        </p:blipFill>
        <p:spPr>
          <a:xfrm>
            <a:off x="457200" y="1554480"/>
            <a:ext cx="7315200" cy="4130936"/>
          </a:xfrm>
          <a:prstGeom prst="rect">
            <a:avLst/>
          </a:prstGeom>
        </p:spPr>
      </p:pic>
      <p:sp>
        <p:nvSpPr>
          <p:cNvPr id="5" name="TextBox 4"/>
          <p:cNvSpPr txBox="1"/>
          <p:nvPr/>
        </p:nvSpPr>
        <p:spPr>
          <a:xfrm>
            <a:off x="8138160" y="1737360"/>
            <a:ext cx="3657600" cy="1188720"/>
          </a:xfrm>
          <a:prstGeom prst="rect">
            <a:avLst/>
          </a:prstGeom>
          <a:noFill/>
        </p:spPr>
        <p:txBody>
          <a:bodyPr wrap="square">
            <a:spAutoFit/>
          </a:bodyPr>
          <a:lstStyle/>
          <a:p>
            <a:pPr algn="l">
              <a:spcAft>
                <a:spcPts val="0"/>
              </a:spcAft>
            </a:pPr>
            <a:r>
              <a:rPr sz="2600" b="1">
                <a:solidFill>
                  <a:srgbClr val="6C3D91"/>
                </a:solidFill>
                <a:latin typeface="Aptos"/>
              </a:rPr>
              <a:t>796 → 1190</a:t>
            </a:r>
          </a:p>
          <a:p>
            <a:pPr algn="l">
              <a:spcAft>
                <a:spcPts val="600"/>
              </a:spcAft>
            </a:pPr>
            <a:r>
              <a:rPr sz="1300" b="0">
                <a:solidFill>
                  <a:srgbClr val="525A60"/>
                </a:solidFill>
                <a:latin typeface="Aptos"/>
              </a:rPr>
              <a:t>Elo (monotone, +394)</a:t>
            </a:r>
          </a:p>
        </p:txBody>
      </p:sp>
      <p:sp>
        <p:nvSpPr>
          <p:cNvPr id="6" name="TextBox 5"/>
          <p:cNvSpPr txBox="1"/>
          <p:nvPr/>
        </p:nvSpPr>
        <p:spPr>
          <a:xfrm>
            <a:off x="8138160" y="3108960"/>
            <a:ext cx="3657600" cy="1188720"/>
          </a:xfrm>
          <a:prstGeom prst="rect">
            <a:avLst/>
          </a:prstGeom>
          <a:noFill/>
        </p:spPr>
        <p:txBody>
          <a:bodyPr wrap="square">
            <a:spAutoFit/>
          </a:bodyPr>
          <a:lstStyle/>
          <a:p>
            <a:pPr algn="l">
              <a:spcAft>
                <a:spcPts val="0"/>
              </a:spcAft>
            </a:pPr>
            <a:r>
              <a:rPr sz="2600" b="1">
                <a:solidFill>
                  <a:srgbClr val="00889C"/>
                </a:solidFill>
                <a:latin typeface="Aptos"/>
              </a:rPr>
              <a:t>52.5% → 100%</a:t>
            </a:r>
          </a:p>
          <a:p>
            <a:pPr algn="l">
              <a:spcAft>
                <a:spcPts val="600"/>
              </a:spcAft>
            </a:pPr>
            <a:r>
              <a:rPr sz="1300" b="0">
                <a:solidFill>
                  <a:srgbClr val="525A60"/>
                </a:solidFill>
                <a:latin typeface="Aptos"/>
              </a:rPr>
              <a:t>Win rate vs Random</a:t>
            </a:r>
          </a:p>
        </p:txBody>
      </p:sp>
      <p:sp>
        <p:nvSpPr>
          <p:cNvPr id="7" name="TextBox 6"/>
          <p:cNvSpPr txBox="1"/>
          <p:nvPr/>
        </p:nvSpPr>
        <p:spPr>
          <a:xfrm>
            <a:off x="8138160" y="4480560"/>
            <a:ext cx="3657600" cy="1188720"/>
          </a:xfrm>
          <a:prstGeom prst="rect">
            <a:avLst/>
          </a:prstGeom>
          <a:noFill/>
        </p:spPr>
        <p:txBody>
          <a:bodyPr wrap="square">
            <a:spAutoFit/>
          </a:bodyPr>
          <a:lstStyle/>
          <a:p>
            <a:pPr algn="l">
              <a:spcAft>
                <a:spcPts val="0"/>
              </a:spcAft>
            </a:pPr>
            <a:r>
              <a:rPr sz="2600" b="1">
                <a:solidFill>
                  <a:srgbClr val="6C3D91"/>
                </a:solidFill>
                <a:latin typeface="Aptos"/>
              </a:rPr>
              <a:t>46% → 100%</a:t>
            </a:r>
          </a:p>
          <a:p>
            <a:pPr algn="l">
              <a:spcAft>
                <a:spcPts val="600"/>
              </a:spcAft>
            </a:pPr>
            <a:r>
              <a:rPr sz="1300" b="0">
                <a:solidFill>
                  <a:srgbClr val="525A60"/>
                </a:solidFill>
                <a:latin typeface="Aptos"/>
              </a:rPr>
              <a:t>Win rate vs Heuristic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The decisive test: beating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benchmark_vs_alphabeta.png"/>
          <p:cNvPicPr>
            <a:picLocks noChangeAspect="1"/>
          </p:cNvPicPr>
          <p:nvPr/>
        </p:nvPicPr>
        <p:blipFill>
          <a:blip r:embed="rId2"/>
          <a:stretch>
            <a:fillRect/>
          </a:stretch>
        </p:blipFill>
        <p:spPr>
          <a:xfrm>
            <a:off x="457200" y="1554480"/>
            <a:ext cx="7315200" cy="4114800"/>
          </a:xfrm>
          <a:prstGeom prst="rect">
            <a:avLst/>
          </a:prstGeom>
        </p:spPr>
      </p:pic>
      <p:sp>
        <p:nvSpPr>
          <p:cNvPr id="5" name="TextBox 4"/>
          <p:cNvSpPr txBox="1"/>
          <p:nvPr/>
        </p:nvSpPr>
        <p:spPr>
          <a:xfrm>
            <a:off x="8138160" y="1737360"/>
            <a:ext cx="3657600" cy="4114800"/>
          </a:xfrm>
          <a:prstGeom prst="rect">
            <a:avLst/>
          </a:prstGeom>
          <a:noFill/>
        </p:spPr>
        <p:txBody>
          <a:bodyPr wrap="square">
            <a:spAutoFit/>
          </a:bodyPr>
          <a:lstStyle/>
          <a:p>
            <a:pPr algn="l">
              <a:spcAft>
                <a:spcPts val="200"/>
              </a:spcAft>
            </a:pPr>
            <a:r>
              <a:rPr sz="1800" b="1">
                <a:solidFill>
                  <a:srgbClr val="6C3D91"/>
                </a:solidFill>
                <a:latin typeface="Aptos"/>
              </a:rPr>
              <a:t>vs Alpha-Beta depth-4</a:t>
            </a:r>
          </a:p>
          <a:p>
            <a:pPr algn="l">
              <a:spcAft>
                <a:spcPts val="1600"/>
              </a:spcAft>
            </a:pPr>
            <a:r>
              <a:rPr sz="1300" b="0">
                <a:solidFill>
                  <a:srgbClr val="525A60"/>
                </a:solidFill>
                <a:latin typeface="Aptos"/>
              </a:rPr>
              <a:t>an opponent the agent NEVER trains against</a:t>
            </a:r>
          </a:p>
          <a:p>
            <a:pPr algn="l">
              <a:spcAft>
                <a:spcPts val="0"/>
              </a:spcAft>
            </a:pPr>
            <a:r>
              <a:rPr sz="2400" b="1">
                <a:solidFill>
                  <a:srgbClr val="00889C"/>
                </a:solidFill>
                <a:latin typeface="Aptos"/>
              </a:rPr>
              <a:t>19% → 100%</a:t>
            </a:r>
          </a:p>
          <a:p>
            <a:pPr algn="l">
              <a:spcAft>
                <a:spcPts val="1600"/>
              </a:spcAft>
            </a:pPr>
            <a:r>
              <a:rPr sz="1300" b="0">
                <a:solidFill>
                  <a:srgbClr val="525A60"/>
                </a:solidFill>
                <a:latin typeface="Aptos"/>
              </a:rPr>
              <a:t>win rate</a:t>
            </a:r>
          </a:p>
          <a:p>
            <a:pPr algn="l">
              <a:spcAft>
                <a:spcPts val="0"/>
              </a:spcAft>
            </a:pPr>
            <a:r>
              <a:rPr sz="2400" b="1">
                <a:solidFill>
                  <a:srgbClr val="6C3D91"/>
                </a:solidFill>
                <a:latin typeface="Aptos"/>
              </a:rPr>
              <a:t>−0.83 → +1.17</a:t>
            </a:r>
          </a:p>
          <a:p>
            <a:pPr algn="l">
              <a:spcAft>
                <a:spcPts val="1600"/>
              </a:spcAft>
            </a:pPr>
            <a:r>
              <a:rPr sz="1300" b="0">
                <a:solidFill>
                  <a:srgbClr val="525A60"/>
                </a:solidFill>
                <a:latin typeface="Aptos"/>
              </a:rPr>
              <a:t>mean score margin (sign flips)</a:t>
            </a:r>
          </a:p>
          <a:p>
            <a:pPr algn="l">
              <a:spcAft>
                <a:spcPts val="600"/>
              </a:spcAft>
            </a:pPr>
            <a:r>
              <a:rPr sz="1300" b="0">
                <a:solidFill>
                  <a:srgbClr val="222222"/>
                </a:solidFill>
                <a:latin typeface="Aptos"/>
              </a:rPr>
              <a:t>Winning by a margin against an independent search = genuine generalisation, not memorisation.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a:solidFill>
                  <a:srgbClr val="6C3D91"/>
                </a:solidFill>
                <a:latin typeface="Aptos Display"/>
              </a:rPr>
              <a:t>Critical analysis</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CRITICAL THINKING</a:t>
            </a:r>
          </a:p>
        </p:txBody>
      </p:sp>
      <p:sp>
        <p:nvSpPr>
          <p:cNvPr id="4" name="Rectangle 3"/>
          <p:cNvSpPr/>
          <p:nvPr/>
        </p:nvSpPr>
        <p:spPr>
          <a:xfrm>
            <a:off x="548640" y="1645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822960" y="1645920"/>
            <a:ext cx="5212080" cy="1343958"/>
          </a:xfrm>
          <a:prstGeom prst="rect">
            <a:avLst/>
          </a:prstGeom>
          <a:noFill/>
        </p:spPr>
        <p:txBody>
          <a:bodyPr wrap="square">
            <a:spAutoFit/>
          </a:bodyPr>
          <a:lstStyle/>
          <a:p>
            <a:pPr algn="l">
              <a:spcAft>
                <a:spcPts val="400"/>
              </a:spcAft>
            </a:pPr>
            <a:r>
              <a:rPr sz="2400" b="1">
                <a:solidFill>
                  <a:srgbClr val="6C3D91"/>
                </a:solidFill>
                <a:latin typeface="Aptos"/>
              </a:rPr>
              <a:t>Model</a:t>
            </a:r>
          </a:p>
          <a:p>
            <a:pPr algn="l">
              <a:spcAft>
                <a:spcPts val="600"/>
              </a:spcAft>
            </a:pPr>
            <a:r>
              <a:rPr b="0">
                <a:solidFill>
                  <a:srgbClr val="222222"/>
                </a:solidFill>
                <a:latin typeface="Aptos"/>
              </a:rPr>
              <a:t>Residual CNN matches local line patterns; tactical channels free the network to weigh threats, not relearn rules.</a:t>
            </a:r>
          </a:p>
        </p:txBody>
      </p:sp>
      <p:sp>
        <p:nvSpPr>
          <p:cNvPr id="6" name="Rectangle 5"/>
          <p:cNvSpPr/>
          <p:nvPr/>
        </p:nvSpPr>
        <p:spPr>
          <a:xfrm>
            <a:off x="6126480" y="1645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400800" y="1645920"/>
            <a:ext cx="5212080" cy="1343958"/>
          </a:xfrm>
          <a:prstGeom prst="rect">
            <a:avLst/>
          </a:prstGeom>
          <a:noFill/>
        </p:spPr>
        <p:txBody>
          <a:bodyPr wrap="square">
            <a:spAutoFit/>
          </a:bodyPr>
          <a:lstStyle/>
          <a:p>
            <a:pPr algn="l">
              <a:spcAft>
                <a:spcPts val="400"/>
              </a:spcAft>
            </a:pPr>
            <a:r>
              <a:rPr sz="2400" b="1">
                <a:solidFill>
                  <a:srgbClr val="00889C"/>
                </a:solidFill>
                <a:latin typeface="Aptos"/>
              </a:rPr>
              <a:t>Method</a:t>
            </a:r>
          </a:p>
          <a:p>
            <a:pPr algn="l">
              <a:spcAft>
                <a:spcPts val="600"/>
              </a:spcAft>
            </a:pPr>
            <a:r>
              <a:rPr b="0">
                <a:solidFill>
                  <a:srgbClr val="222222"/>
                </a:solidFill>
                <a:latin typeface="Aptos"/>
              </a:rPr>
              <a:t>Negamax target keeps the value function coherent; Double-DQN + Huber explain the stable, collapse-free convergence.</a:t>
            </a:r>
          </a:p>
        </p:txBody>
      </p:sp>
      <p:sp>
        <p:nvSpPr>
          <p:cNvPr id="8" name="Rectangle 7"/>
          <p:cNvSpPr/>
          <p:nvPr/>
        </p:nvSpPr>
        <p:spPr>
          <a:xfrm>
            <a:off x="548640" y="3931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3931920"/>
            <a:ext cx="5212080" cy="1343958"/>
          </a:xfrm>
          <a:prstGeom prst="rect">
            <a:avLst/>
          </a:prstGeom>
          <a:noFill/>
        </p:spPr>
        <p:txBody>
          <a:bodyPr wrap="square">
            <a:spAutoFit/>
          </a:bodyPr>
          <a:lstStyle/>
          <a:p>
            <a:pPr algn="l">
              <a:spcAft>
                <a:spcPts val="400"/>
              </a:spcAft>
            </a:pPr>
            <a:r>
              <a:rPr sz="2400" b="1" dirty="0">
                <a:solidFill>
                  <a:srgbClr val="6C3D91"/>
                </a:solidFill>
                <a:latin typeface="Aptos"/>
              </a:rPr>
              <a:t>Results</a:t>
            </a:r>
          </a:p>
          <a:p>
            <a:pPr algn="l">
              <a:spcAft>
                <a:spcPts val="600"/>
              </a:spcAft>
            </a:pPr>
            <a:r>
              <a:rPr b="0" dirty="0">
                <a:solidFill>
                  <a:srgbClr val="222222"/>
                </a:solidFill>
                <a:latin typeface="Aptos"/>
              </a:rPr>
              <a:t>Win rates saturate at 100% </a:t>
            </a:r>
            <a:r>
              <a:rPr lang="en-US" dirty="0">
                <a:solidFill>
                  <a:srgbClr val="222222"/>
                </a:solidFill>
                <a:latin typeface="Aptos"/>
              </a:rPr>
              <a:t>- </a:t>
            </a:r>
            <a:r>
              <a:rPr b="0" dirty="0">
                <a:solidFill>
                  <a:srgbClr val="222222"/>
                </a:solidFill>
                <a:latin typeface="Aptos"/>
              </a:rPr>
              <a:t>Elo keeps resolving improvement; the per-snapshot noise is why Elo is the headline.</a:t>
            </a:r>
          </a:p>
        </p:txBody>
      </p:sp>
      <p:sp>
        <p:nvSpPr>
          <p:cNvPr id="10" name="Rectangle 9"/>
          <p:cNvSpPr/>
          <p:nvPr/>
        </p:nvSpPr>
        <p:spPr>
          <a:xfrm>
            <a:off x="6126480" y="3931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400800" y="3931920"/>
            <a:ext cx="5212080" cy="1343958"/>
          </a:xfrm>
          <a:prstGeom prst="rect">
            <a:avLst/>
          </a:prstGeom>
          <a:noFill/>
        </p:spPr>
        <p:txBody>
          <a:bodyPr wrap="square">
            <a:spAutoFit/>
          </a:bodyPr>
          <a:lstStyle/>
          <a:p>
            <a:pPr algn="l">
              <a:spcAft>
                <a:spcPts val="400"/>
              </a:spcAft>
            </a:pPr>
            <a:r>
              <a:rPr sz="2400" b="1" dirty="0">
                <a:solidFill>
                  <a:srgbClr val="00889C"/>
                </a:solidFill>
                <a:latin typeface="Aptos"/>
              </a:rPr>
              <a:t>Improve</a:t>
            </a:r>
          </a:p>
          <a:p>
            <a:pPr algn="l">
              <a:spcAft>
                <a:spcPts val="600"/>
              </a:spcAft>
            </a:pPr>
            <a:r>
              <a:rPr b="0" dirty="0">
                <a:solidFill>
                  <a:srgbClr val="222222"/>
                </a:solidFill>
                <a:latin typeface="Aptos"/>
              </a:rPr>
              <a:t>Multi-seed bands, n-step returns, an AlphaZero-style policy + MCTS head, and a deeper benchmark.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6C3D91"/>
                </a:solidFill>
                <a:latin typeface="Aptos Display"/>
              </a:rPr>
              <a:t>A self-play DQN learned an original board game</a:t>
            </a:r>
            <a:r>
              <a:rPr lang="en-ZA" sz="2400" b="1" dirty="0">
                <a:solidFill>
                  <a:srgbClr val="6C3D91"/>
                </a:solidFill>
                <a:latin typeface="Aptos Display"/>
              </a:rPr>
              <a:t>, </a:t>
            </a:r>
            <a:r>
              <a:rPr sz="2400" b="1" dirty="0">
                <a:solidFill>
                  <a:srgbClr val="6C3D91"/>
                </a:solidFill>
                <a:latin typeface="Aptos Display"/>
              </a:rPr>
              <a:t>from a blank slate to out-playing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IN ONE SENTENCE</a:t>
            </a:r>
          </a:p>
        </p:txBody>
      </p:sp>
      <p:sp>
        <p:nvSpPr>
          <p:cNvPr id="4" name="TextBox 3"/>
          <p:cNvSpPr txBox="1"/>
          <p:nvPr/>
        </p:nvSpPr>
        <p:spPr>
          <a:xfrm>
            <a:off x="731520"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1,190</a:t>
            </a:r>
          </a:p>
          <a:p>
            <a:pPr algn="ctr">
              <a:spcAft>
                <a:spcPts val="600"/>
              </a:spcAft>
            </a:pPr>
            <a:r>
              <a:rPr sz="1400" b="0">
                <a:solidFill>
                  <a:srgbClr val="525A60"/>
                </a:solidFill>
                <a:latin typeface="Aptos"/>
              </a:rPr>
              <a:t>final Elo</a:t>
            </a:r>
          </a:p>
        </p:txBody>
      </p:sp>
      <p:sp>
        <p:nvSpPr>
          <p:cNvPr id="5" name="TextBox 4"/>
          <p:cNvSpPr txBox="1"/>
          <p:nvPr/>
        </p:nvSpPr>
        <p:spPr>
          <a:xfrm>
            <a:off x="4480559"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a:t>
            </a:r>
          </a:p>
          <a:p>
            <a:pPr algn="ctr">
              <a:spcAft>
                <a:spcPts val="600"/>
              </a:spcAft>
            </a:pPr>
            <a:r>
              <a:rPr sz="1400" b="0">
                <a:solidFill>
                  <a:srgbClr val="525A60"/>
                </a:solidFill>
                <a:latin typeface="Aptos"/>
              </a:rPr>
              <a:t>vs Random, Heuristic &amp; AB-d4</a:t>
            </a:r>
          </a:p>
        </p:txBody>
      </p:sp>
      <p:sp>
        <p:nvSpPr>
          <p:cNvPr id="6" name="TextBox 5"/>
          <p:cNvSpPr txBox="1"/>
          <p:nvPr/>
        </p:nvSpPr>
        <p:spPr>
          <a:xfrm>
            <a:off x="8229598"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10,000</a:t>
            </a:r>
          </a:p>
          <a:p>
            <a:pPr algn="ctr">
              <a:spcAft>
                <a:spcPts val="600"/>
              </a:spcAft>
            </a:pPr>
            <a:r>
              <a:rPr sz="1400" b="0">
                <a:solidFill>
                  <a:srgbClr val="525A60"/>
                </a:solidFill>
                <a:latin typeface="Aptos"/>
              </a:rPr>
              <a:t>self-play games</a:t>
            </a:r>
          </a:p>
        </p:txBody>
      </p:sp>
      <p:sp>
        <p:nvSpPr>
          <p:cNvPr id="7" name="TextBox 6"/>
          <p:cNvSpPr txBox="1"/>
          <p:nvPr/>
        </p:nvSpPr>
        <p:spPr>
          <a:xfrm>
            <a:off x="731520" y="4297680"/>
            <a:ext cx="10698480" cy="1097280"/>
          </a:xfrm>
          <a:prstGeom prst="rect">
            <a:avLst/>
          </a:prstGeom>
          <a:noFill/>
        </p:spPr>
        <p:txBody>
          <a:bodyPr wrap="square">
            <a:spAutoFit/>
          </a:bodyPr>
          <a:lstStyle/>
          <a:p>
            <a:pPr algn="ctr">
              <a:spcAft>
                <a:spcPts val="1000"/>
              </a:spcAft>
            </a:pPr>
            <a:r>
              <a:rPr sz="1500" b="0">
                <a:solidFill>
                  <a:srgbClr val="222222"/>
                </a:solidFill>
                <a:latin typeface="Aptos"/>
              </a:rPr>
              <a:t>Clear, quantitative evidence that performance improves with experience. Every result is reproducible from the logged data with one command.</a:t>
            </a:r>
          </a:p>
          <a:p>
            <a:pPr algn="ctr">
              <a:spcAft>
                <a:spcPts val="600"/>
              </a:spcAft>
            </a:pPr>
            <a:r>
              <a:rPr sz="1200" b="0">
                <a:solidFill>
                  <a:srgbClr val="00889C"/>
                </a:solidFill>
                <a:latin typeface="Aptos"/>
              </a:rPr>
              <a:t>python -m src.training.train --games 10000 --size 8 --benchmark alphabeta_d4</a:t>
            </a:r>
          </a:p>
        </p:txBody>
      </p:sp>
      <p:sp>
        <p:nvSpPr>
          <p:cNvPr id="8" name="TextBox 7"/>
          <p:cNvSpPr txBox="1"/>
          <p:nvPr/>
        </p:nvSpPr>
        <p:spPr>
          <a:xfrm>
            <a:off x="731520" y="5669280"/>
            <a:ext cx="10698480" cy="548640"/>
          </a:xfrm>
          <a:prstGeom prst="rect">
            <a:avLst/>
          </a:prstGeom>
          <a:noFill/>
        </p:spPr>
        <p:txBody>
          <a:bodyPr wrap="square">
            <a:spAutoFit/>
          </a:bodyPr>
          <a:lstStyle/>
          <a:p>
            <a:pPr algn="ctr">
              <a:spcAft>
                <a:spcPts val="600"/>
              </a:spcAft>
            </a:pPr>
            <a:r>
              <a:rPr sz="1600" b="1">
                <a:solidFill>
                  <a:srgbClr val="6C3D91"/>
                </a:solidFill>
                <a:latin typeface="Aptos"/>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
  <TotalTime>71</TotalTime>
  <Words>782</Words>
  <Application>Microsoft Office PowerPoint</Application>
  <PresentationFormat>Widescreen</PresentationFormat>
  <Paragraphs>87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C_lines</vt:lpstr>
      <vt:lpstr>The game: C_lines on an 8×8 board</vt:lpstr>
      <vt:lpstr>The learning problem</vt:lpstr>
      <vt:lpstr>The algorithm: a self-play Deep Q-Network</vt:lpstr>
      <vt:lpstr>Three implementation choices that make it work</vt:lpstr>
      <vt:lpstr>Result: performance improves with experience</vt:lpstr>
      <vt:lpstr>The decisive test: beating a 4-ply search</vt:lpstr>
      <vt:lpstr>Critical analysis</vt:lpstr>
      <vt:lpstr>A self-play DQN learned an original board game, from a blank slate to out-playing a 4-ply 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Tshegofatso Lekabye</dc:creator>
  <cp:lastModifiedBy>colile s</cp:lastModifiedBy>
  <cp:revision>15</cp:revision>
  <dcterms:created xsi:type="dcterms:W3CDTF">2025-02-04T06:41:40Z</dcterms:created>
  <dcterms:modified xsi:type="dcterms:W3CDTF">2026-06-07T10:52:49Z</dcterms:modified>
</cp:coreProperties>
</file>