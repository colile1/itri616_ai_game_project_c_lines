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29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9" autoAdjust="0"/>
    <p:restoredTop sz="61815" autoAdjust="0"/>
  </p:normalViewPr>
  <p:slideViewPr>
    <p:cSldViewPr snapToGrid="0">
      <p:cViewPr varScale="1">
        <p:scale>
          <a:sx n="59" d="100"/>
          <a:sy n="59" d="100"/>
        </p:scale>
        <p:origin x="132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5169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[~15s  |  running 0:15]</a:t>
            </a:r>
          </a:p>
          <a:p>
            <a:r>
              <a:rPr dirty="0"/>
              <a:t>Hi. This project is </a:t>
            </a:r>
            <a:r>
              <a:rPr dirty="0" err="1"/>
              <a:t>C_lines</a:t>
            </a:r>
            <a:r>
              <a:rPr dirty="0"/>
              <a:t>, an original two-player board game I designed, and an agent that learns to play it well entirely by playing against itself. In the next few minutes I'll cover three things: the problem, the algorithm, and the evidence that the agent improves with experience.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[~35s  |  running 0:50]</a:t>
            </a:r>
          </a:p>
          <a:p>
            <a:r>
              <a:rPr dirty="0" err="1"/>
              <a:t>C_lines</a:t>
            </a:r>
            <a:r>
              <a:rPr dirty="0"/>
              <a:t> is played on an eight-by-eight board. Players take turns placing one stone on any empty cell, there's no gravity and no column rule, you can play anywhere. Play continues until the board is full, sixty-four stones. You score for straight lines of your own stones in any direction, and longer lines are worth far more, a three is a quarter point, scaling up to five points for a line of eight. Highest score when the board fills wins. What makes it hard: every move you have to both build your own lines and block your opponent's, over a sixty-four-move game.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[~38s  |  running 1:28]</a:t>
            </a:r>
          </a:p>
          <a:p>
            <a:r>
              <a:rPr dirty="0"/>
              <a:t>I framed this with Mitchell's Task, Experience, Performance structure. The Task: given a board, choose the placement that </a:t>
            </a:r>
            <a:r>
              <a:rPr dirty="0" err="1"/>
              <a:t>maximises</a:t>
            </a:r>
            <a:r>
              <a:rPr dirty="0"/>
              <a:t> my final score margin. In category terms it's sequential decision-making and control, not classification, and not prediction, because the agent has to act and its actions decide the outcome. The Experience is self-play: a short warm-up against a random and a heuristic opponent, then the agent plays frozen copies of its earlier selves, so as it improves, its opponents improve too. And Performance is measured four ways, win rate versus random, versus the heuristic, an Elo rating, and against a four-ply search.</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[~38s  |  running 2:06]</a:t>
            </a:r>
          </a:p>
          <a:p>
            <a:r>
              <a:t>The algorithm is a Deep Q-Network, value-based reinforcement learning. A neural network estimates the value of each possible move, and the agent plays the highest-valued legal cell. The board goes in as a ten-channel image, my stones, the opponent's, empty cells, and tactical layers like where my three-in-a-rows are. The network is a residual convolutional network, which is well suited to spotting line patterns. I chose DQN because this is sequential control with delayed reward, a move's value only emerges when the board fills, and there are no labelled correct moves for an original game, so supervised learning doesn't apply. The reward is the per-move change in score margin, perfectly aligned with the objective.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[~33s  |  running 2:39]</a:t>
            </a:r>
          </a:p>
          <a:p>
            <a:r>
              <a:rPr dirty="0"/>
              <a:t>Three choices made it work. First, the </a:t>
            </a:r>
            <a:r>
              <a:rPr dirty="0" err="1"/>
              <a:t>negamax</a:t>
            </a:r>
            <a:r>
              <a:rPr dirty="0"/>
              <a:t> target: because the next position belongs to my opponent, the bootstrap is subtracted, not added. </a:t>
            </a:r>
            <a:r>
              <a:rPr lang="en-ZA" dirty="0"/>
              <a:t>C</a:t>
            </a:r>
            <a:r>
              <a:rPr dirty="0" err="1"/>
              <a:t>orrectness</a:t>
            </a:r>
            <a:r>
              <a:rPr dirty="0"/>
              <a:t> detail in two-player value learning. Second, Double DQN and a Huber loss keep the value estimates stable and prevent the late-training collapse that plain DQN suffers. Third, I exploit the board's eight-fold symmetry, which multiplies my training data for free. And every thousand games I freeze a snapshot and register it as a playable difficulty level.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[~33s  |  running 3:12]</a:t>
            </a:r>
          </a:p>
          <a:p>
            <a:r>
              <a:t>Here's the core result, one run of ten thousand games. Win rate against random and against the heuristic both climb from about half to a hundred percent. But the headline is the Elo rating, the purple curve, it rises monotonically from 796 to 1190, nearly four hundred points, with no collapse. That smooth rising curve is exactly the assignment's claim, performance improving with experience, shown directly. And because Elo keeps rising after the win rates hit their ceiling, it shows the agent kept improving even when the baselines could no longer measure 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[~28s  |  running 3:40]</a:t>
            </a:r>
          </a:p>
          <a:p>
            <a:r>
              <a:t>The strongest evidence is against a four-ply alpha-beta search that the agent never trains against. Early on it wins about nineteen percent and loses on score, by a margin of minus 0.83. By the end it wins essentially a hundred percent, and the score margin flips to plus 1.17. Winning by a margin against an independent search it cannot have memorised, the tree is far too large, means the agent genuinely generalised.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[~35s  |  running 4:15]</a:t>
            </a:r>
          </a:p>
          <a:p>
            <a:r>
              <a:t>A critical look, in four parts. The model: the residual CNN matches local line patterns, and the tactical channels free it to weigh threats rather than relearn the rules. The method: the negamax target keeps the value function coherent, and Double DQN with Huber loss explains the stable, collapse-free convergence. The results: the win rates saturate at a hundred percent, which is why I lean on Elo, and the per-snapshot noise is why a single curve is more trustworthy than any one point. To improve: multi-seed confidence bands, n-step returns, and an AlphaZero-style policy-and-search head.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[~20s  |  running 4:35]</a:t>
            </a:r>
          </a:p>
          <a:p>
            <a:r>
              <a:t>In one sentence: a self-play Deep Q-Network learned an original board game, from a blank slate to out-playing a four-ply search, clear, quantitative evidence that performance improves with experience. Final Elo of eleven-ninety, a hundred percent against every fixed opponent, and every result reproducible from the logged data with one command. Thank you for watching.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BBC08-E79F-7040-8CD7-D268FC775EB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B5FC8C9-99D9-903D-CE6E-DBBD5E993D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1BD387-1BA8-9074-AF7A-AFC937A7D164}"/>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07087864-6017-99C9-D994-0EEEA1A2B3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411324-82A9-53C8-45EF-CED24C310BB7}"/>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3728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F0CB43-D14B-4843-9B76-A82E1BB78B6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DCDC29-78C2-0A1D-3ED7-91EB9F80CCB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166B6E4-F0A6-ACAC-C0BD-84B01C1DC226}"/>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B50376E1-1CF8-19E0-A1BC-093BEED3B5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F83F3D-FDA2-88DE-1521-369D662919CB}"/>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4492967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B91E-719A-7A87-755C-9BD5D844EC8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80E143A-A9ED-6267-246E-D57FC0ACB5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899E1C-822B-45B4-8D55-D910A0529E29}"/>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D997498-D67B-3C6A-6C2F-7A3B3CACBE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8B7EBA-B7CE-1FE5-714E-E0AC9F7EB53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95879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845B-00D3-86C3-A83D-DD0E4A8F070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B6BEC6-C4E4-B2BE-1B8E-4F5BC81CDF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22A034F-85C0-F2F7-B6C3-81787945E42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C54C82D-CFF1-FEEC-88E1-D829B77098A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C8EDB3A4-CA03-1344-6ECC-76A48C66FA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DA03E8E-01FE-EFB4-3EBC-E6D96484969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632624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736D0-FF12-66A5-8D1E-3F85111819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811D6AB-B92D-33A9-EB86-D23A4267E70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C2AB5F-819F-836E-2107-961FA06CF50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F488996-99C7-BA1D-3722-CE3AFDB034B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68B816-6A4D-B432-3763-465301B647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4959120-386C-E7C6-2422-29C0706458FA}"/>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8" name="Footer Placeholder 7">
            <a:extLst>
              <a:ext uri="{FF2B5EF4-FFF2-40B4-BE49-F238E27FC236}">
                <a16:creationId xmlns:a16="http://schemas.microsoft.com/office/drawing/2014/main" id="{F2A0B9E5-F780-748E-A4B4-C6426D85AC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129619-C47A-6E28-690D-573DFD1B441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5180758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E60B4-53A7-8A5E-81B4-F1FB79D107C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F1918C-E9B7-EBFA-BEC0-CAFFF9B2154D}"/>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4" name="Footer Placeholder 3">
            <a:extLst>
              <a:ext uri="{FF2B5EF4-FFF2-40B4-BE49-F238E27FC236}">
                <a16:creationId xmlns:a16="http://schemas.microsoft.com/office/drawing/2014/main" id="{E9D67FE0-E94F-8718-4641-50EB277124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1FA0CD1-0E05-CBD8-D7F8-84D5BFDA2201}"/>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1908071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A738A3-534C-E327-546D-296D3E06F07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3" name="Footer Placeholder 2">
            <a:extLst>
              <a:ext uri="{FF2B5EF4-FFF2-40B4-BE49-F238E27FC236}">
                <a16:creationId xmlns:a16="http://schemas.microsoft.com/office/drawing/2014/main" id="{785C59B8-2111-125D-9E4B-71DDAF8E6B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6F5AC02-681C-AAB4-A3DC-00ABE8FAD89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014806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66650-2894-1352-8A55-0C123546937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865DE14-2C37-6EEC-01D2-51CA2385598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0977555-CD7D-7D54-9586-E2B279723C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4F9366-C4F7-0F80-96C9-C337F79EAE51}"/>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B9A2F07B-3ECB-0BDC-370C-A25485DB4F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90014D-B500-2A8D-025F-E8A5D17DC968}"/>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5661530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4A881-6D96-61B9-96AD-70118D3F10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9948AD0-AF13-3E5A-EABA-F8F1F4ACC1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E6730E-9437-89A7-58A8-1AAF9F5CBB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3A682F-63F3-A2CD-78A0-01856CEC99B7}"/>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6" name="Footer Placeholder 5">
            <a:extLst>
              <a:ext uri="{FF2B5EF4-FFF2-40B4-BE49-F238E27FC236}">
                <a16:creationId xmlns:a16="http://schemas.microsoft.com/office/drawing/2014/main" id="{96DFCEFE-9AED-C52A-51E1-90A2CE3A04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7B7724-378C-1763-684D-B11749530296}"/>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2238897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0185DE-9AB3-3792-2A2B-F0FEA95094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9D564B1-18FF-BB19-9B40-76A62803EB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34FB277-24A9-6259-3B9C-873CC0628405}"/>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891B150F-B42C-7F72-163C-1024DFAF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5D1D55-221F-11DD-E535-9ABCD47A4C23}"/>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3916053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19572-B251-3B55-BDFF-5A4C4BCD208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14B3B1C-3D52-773B-2BC9-7CAF85219C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667C81-BBC4-12F2-4C69-371781F33DC0}"/>
              </a:ext>
            </a:extLst>
          </p:cNvPr>
          <p:cNvSpPr>
            <a:spLocks noGrp="1"/>
          </p:cNvSpPr>
          <p:nvPr>
            <p:ph type="dt" sz="half" idx="10"/>
          </p:nvPr>
        </p:nvSpPr>
        <p:spPr/>
        <p:txBody>
          <a:body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1861973A-A739-5D01-18CD-77EA80860C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C765F69-913C-121A-5966-DFE44F835252}"/>
              </a:ext>
            </a:extLst>
          </p:cNvPr>
          <p:cNvSpPr>
            <a:spLocks noGrp="1"/>
          </p:cNvSpPr>
          <p:nvPr>
            <p:ph type="sldNum" sz="quarter" idx="12"/>
          </p:nvPr>
        </p:nvSpPr>
        <p:spPr/>
        <p:txBody>
          <a:bodyPr/>
          <a:lstStyle/>
          <a:p>
            <a:fld id="{D70CF79A-2F49-45EB-A148-F0BEDE4BEE5A}" type="slidenum">
              <a:rPr lang="en-US" smtClean="0"/>
              <a:t>‹#›</a:t>
            </a:fld>
            <a:endParaRPr lang="en-US"/>
          </a:p>
        </p:txBody>
      </p:sp>
    </p:spTree>
    <p:extLst>
      <p:ext uri="{BB962C8B-B14F-4D97-AF65-F5344CB8AC3E}">
        <p14:creationId xmlns:p14="http://schemas.microsoft.com/office/powerpoint/2010/main" val="433308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2127D-5057-8E18-F077-6C4F9102356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EDA6024-E2D4-7197-43DB-056A0DACB3A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E391EA-DE72-D3B7-7B8E-3449D1BDB5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8966A4-F9E1-4082-9BF6-427132D10FA3}" type="datetimeFigureOut">
              <a:rPr lang="en-US" smtClean="0"/>
              <a:t>6/7/2026</a:t>
            </a:fld>
            <a:endParaRPr lang="en-US"/>
          </a:p>
        </p:txBody>
      </p:sp>
      <p:sp>
        <p:nvSpPr>
          <p:cNvPr id="5" name="Footer Placeholder 4">
            <a:extLst>
              <a:ext uri="{FF2B5EF4-FFF2-40B4-BE49-F238E27FC236}">
                <a16:creationId xmlns:a16="http://schemas.microsoft.com/office/drawing/2014/main" id="{3458A575-6B96-8A47-35F3-66CAA1053F3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F7DED54-49D8-6C4D-4EBA-D237BC79F69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0CF79A-2F49-45EB-A148-F0BEDE4BEE5A}" type="slidenum">
              <a:rPr lang="en-US" smtClean="0"/>
              <a:t>‹#›</a:t>
            </a:fld>
            <a:endParaRPr lang="en-US"/>
          </a:p>
        </p:txBody>
      </p:sp>
    </p:spTree>
    <p:extLst>
      <p:ext uri="{BB962C8B-B14F-4D97-AF65-F5344CB8AC3E}">
        <p14:creationId xmlns:p14="http://schemas.microsoft.com/office/powerpoint/2010/main" val="42746329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5400" b="1">
                <a:solidFill>
                  <a:srgbClr val="6C3D91"/>
                </a:solidFill>
                <a:latin typeface="Aptos Display"/>
              </a:rPr>
              <a:t>C_lines</a:t>
            </a:r>
          </a:p>
        </p:txBody>
      </p:sp>
      <p:sp>
        <p:nvSpPr>
          <p:cNvPr id="3" name="Subtitle 2"/>
          <p:cNvSpPr>
            <a:spLocks noGrp="1"/>
          </p:cNvSpPr>
          <p:nvPr>
            <p:ph type="subTitle" idx="1"/>
          </p:nvPr>
        </p:nvSpPr>
        <p:spPr/>
        <p:txBody>
          <a:bodyPr/>
          <a:lstStyle/>
          <a:p>
            <a:r>
              <a:rPr sz="1800" dirty="0">
                <a:solidFill>
                  <a:srgbClr val="222222"/>
                </a:solidFill>
                <a:latin typeface="Aptos"/>
              </a:rPr>
              <a:t>A self-play reinforcement-learning agent for an original board game</a:t>
            </a:r>
          </a:p>
        </p:txBody>
      </p:sp>
      <p:sp>
        <p:nvSpPr>
          <p:cNvPr id="4" name="TextBox 3"/>
          <p:cNvSpPr txBox="1"/>
          <p:nvPr/>
        </p:nvSpPr>
        <p:spPr>
          <a:xfrm>
            <a:off x="1887795" y="4710635"/>
            <a:ext cx="8996516" cy="338554"/>
          </a:xfrm>
          <a:prstGeom prst="rect">
            <a:avLst/>
          </a:prstGeom>
          <a:noFill/>
        </p:spPr>
        <p:txBody>
          <a:bodyPr wrap="square">
            <a:spAutoFit/>
          </a:bodyPr>
          <a:lstStyle/>
          <a:p>
            <a:pPr algn="l">
              <a:spcAft>
                <a:spcPts val="600"/>
              </a:spcAft>
            </a:pPr>
            <a:r>
              <a:rPr sz="1600" b="0" dirty="0">
                <a:solidFill>
                  <a:srgbClr val="525A60"/>
                </a:solidFill>
                <a:latin typeface="Aptos"/>
              </a:rPr>
              <a:t>ITRI 616</a:t>
            </a:r>
            <a:r>
              <a:rPr lang="en-US" sz="1600" b="0" dirty="0">
                <a:solidFill>
                  <a:srgbClr val="525A60"/>
                </a:solidFill>
                <a:latin typeface="Aptos"/>
              </a:rPr>
              <a:t> </a:t>
            </a:r>
            <a:r>
              <a:rPr sz="1600" b="0" dirty="0">
                <a:solidFill>
                  <a:srgbClr val="525A60"/>
                </a:solidFill>
                <a:latin typeface="Aptos"/>
              </a:rPr>
              <a:t> Artificial Intelligence 1   ·   8×8 board · points-until-full · run_pts_002 (10,000 self-play games)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solidFill>
                  <a:srgbClr val="6C3D91"/>
                </a:solidFill>
                <a:latin typeface="Aptos Display"/>
              </a:rPr>
              <a:t>The game: C_lines on an 8×8 board</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a:t>
            </a:r>
          </a:p>
        </p:txBody>
      </p:sp>
      <p:sp>
        <p:nvSpPr>
          <p:cNvPr id="5" name="TextBox 4"/>
          <p:cNvSpPr txBox="1"/>
          <p:nvPr/>
        </p:nvSpPr>
        <p:spPr>
          <a:xfrm>
            <a:off x="457200" y="1554480"/>
            <a:ext cx="6035040" cy="3375283"/>
          </a:xfrm>
          <a:prstGeom prst="rect">
            <a:avLst/>
          </a:prstGeom>
          <a:noFill/>
        </p:spPr>
        <p:txBody>
          <a:bodyPr wrap="square">
            <a:spAutoFit/>
          </a:bodyPr>
          <a:lstStyle/>
          <a:p>
            <a:pPr algn="l">
              <a:spcAft>
                <a:spcPts val="1000"/>
              </a:spcAft>
            </a:pPr>
            <a:r>
              <a:rPr b="0" dirty="0">
                <a:solidFill>
                  <a:srgbClr val="222222"/>
                </a:solidFill>
                <a:latin typeface="Aptos"/>
              </a:rPr>
              <a:t>•  Open placement</a:t>
            </a:r>
            <a:r>
              <a:rPr lang="en-US" dirty="0">
                <a:solidFill>
                  <a:srgbClr val="222222"/>
                </a:solidFill>
                <a:latin typeface="Aptos"/>
              </a:rPr>
              <a:t>, </a:t>
            </a:r>
            <a:r>
              <a:rPr b="0" dirty="0">
                <a:solidFill>
                  <a:srgbClr val="222222"/>
                </a:solidFill>
                <a:latin typeface="Aptos"/>
              </a:rPr>
              <a:t>players alternate, placing one stone on ANY empty cell; no gravity, no column rule.</a:t>
            </a:r>
          </a:p>
          <a:p>
            <a:pPr algn="l">
              <a:spcAft>
                <a:spcPts val="1000"/>
              </a:spcAft>
            </a:pPr>
            <a:r>
              <a:rPr b="0" dirty="0">
                <a:solidFill>
                  <a:srgbClr val="222222"/>
                </a:solidFill>
                <a:latin typeface="Aptos"/>
              </a:rPr>
              <a:t>•  Board fills</a:t>
            </a:r>
            <a:r>
              <a:rPr lang="en-US" b="0" dirty="0">
                <a:solidFill>
                  <a:srgbClr val="222222"/>
                </a:solidFill>
                <a:latin typeface="Aptos"/>
              </a:rPr>
              <a:t>,</a:t>
            </a:r>
            <a:r>
              <a:rPr b="0" dirty="0">
                <a:solidFill>
                  <a:srgbClr val="222222"/>
                </a:solidFill>
                <a:latin typeface="Aptos"/>
              </a:rPr>
              <a:t> play continues until all 64 cells are occupied.</a:t>
            </a:r>
          </a:p>
          <a:p>
            <a:pPr algn="l">
              <a:spcAft>
                <a:spcPts val="1000"/>
              </a:spcAft>
            </a:pPr>
            <a:r>
              <a:rPr b="0" dirty="0">
                <a:solidFill>
                  <a:srgbClr val="222222"/>
                </a:solidFill>
                <a:latin typeface="Aptos"/>
              </a:rPr>
              <a:t>•  Line scoring </a:t>
            </a:r>
            <a:r>
              <a:rPr lang="en-US" b="0" dirty="0">
                <a:solidFill>
                  <a:srgbClr val="222222"/>
                </a:solidFill>
                <a:latin typeface="Aptos"/>
              </a:rPr>
              <a:t>,</a:t>
            </a:r>
            <a:r>
              <a:rPr b="0" dirty="0">
                <a:solidFill>
                  <a:srgbClr val="222222"/>
                </a:solidFill>
                <a:latin typeface="Aptos"/>
              </a:rPr>
              <a:t> score for straight runs (any direction) of length 3–8; longer lines worth far more (3 → 0.25 … 8 → 5.0).</a:t>
            </a:r>
          </a:p>
          <a:p>
            <a:pPr algn="l">
              <a:spcAft>
                <a:spcPts val="1000"/>
              </a:spcAft>
            </a:pPr>
            <a:r>
              <a:rPr b="0" dirty="0">
                <a:solidFill>
                  <a:srgbClr val="222222"/>
                </a:solidFill>
                <a:latin typeface="Aptos"/>
              </a:rPr>
              <a:t>•  Win condition</a:t>
            </a:r>
            <a:r>
              <a:rPr lang="en-US" b="0" dirty="0">
                <a:solidFill>
                  <a:srgbClr val="222222"/>
                </a:solidFill>
                <a:latin typeface="Aptos"/>
              </a:rPr>
              <a:t>, </a:t>
            </a:r>
            <a:r>
              <a:rPr b="0" dirty="0">
                <a:solidFill>
                  <a:srgbClr val="222222"/>
                </a:solidFill>
                <a:latin typeface="Aptos"/>
              </a:rPr>
              <a:t> highest total score when the board fills; a tie-break removes draws.</a:t>
            </a:r>
          </a:p>
          <a:p>
            <a:pPr algn="l">
              <a:spcAft>
                <a:spcPts val="600"/>
              </a:spcAft>
            </a:pPr>
            <a:r>
              <a:rPr b="0" dirty="0">
                <a:solidFill>
                  <a:schemeClr val="accent4">
                    <a:lumMod val="10000"/>
                  </a:schemeClr>
                </a:solidFill>
                <a:latin typeface="Aptos"/>
              </a:rPr>
              <a:t>•  </a:t>
            </a:r>
            <a:r>
              <a:rPr lang="en-US" b="0" dirty="0">
                <a:solidFill>
                  <a:schemeClr val="accent4">
                    <a:lumMod val="10000"/>
                  </a:schemeClr>
                </a:solidFill>
                <a:latin typeface="Aptos"/>
              </a:rPr>
              <a:t>There are possible</a:t>
            </a:r>
            <a:r>
              <a:rPr b="0" dirty="0">
                <a:solidFill>
                  <a:schemeClr val="accent4">
                    <a:lumMod val="10000"/>
                  </a:schemeClr>
                </a:solidFill>
                <a:latin typeface="Aptos"/>
              </a:rPr>
              <a:t> 64 opening moves; you must BUILD your own lines and BLOCK the opponent over a 64-move horizon.</a:t>
            </a:r>
          </a:p>
        </p:txBody>
      </p:sp>
      <p:pic>
        <p:nvPicPr>
          <p:cNvPr id="6" name="Picture 5">
            <a:extLst>
              <a:ext uri="{FF2B5EF4-FFF2-40B4-BE49-F238E27FC236}">
                <a16:creationId xmlns:a16="http://schemas.microsoft.com/office/drawing/2014/main" id="{0E207000-7CEE-D6A7-24B5-2AE562C1CF21}"/>
              </a:ext>
            </a:extLst>
          </p:cNvPr>
          <p:cNvPicPr>
            <a:picLocks noChangeAspect="1"/>
          </p:cNvPicPr>
          <p:nvPr/>
        </p:nvPicPr>
        <p:blipFill rotWithShape="1">
          <a:blip r:embed="rId3">
            <a:extLst>
              <a:ext uri="{28A0092B-C50C-407E-A947-70E740481C1C}">
                <a14:useLocalDpi xmlns:a14="http://schemas.microsoft.com/office/drawing/2010/main" val="0"/>
              </a:ext>
            </a:extLst>
          </a:blip>
          <a:srcRect l="606" t="18782" r="45070" b="19179"/>
          <a:stretch>
            <a:fillRect/>
          </a:stretch>
        </p:blipFill>
        <p:spPr bwMode="auto">
          <a:xfrm>
            <a:off x="6714490" y="1331088"/>
            <a:ext cx="5020310" cy="3822065"/>
          </a:xfrm>
          <a:prstGeom prst="rect">
            <a:avLst/>
          </a:prstGeom>
          <a:noFill/>
          <a:ln>
            <a:noFill/>
          </a:ln>
          <a:extLst>
            <a:ext uri="{53640926-AAD7-44D8-BBD7-CCE9431645EC}">
              <a14:shadowObscured xmlns:a14="http://schemas.microsoft.com/office/drawing/2010/main"/>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1960" y="402495"/>
            <a:ext cx="10515600" cy="1325563"/>
          </a:xfrm>
        </p:spPr>
        <p:txBody>
          <a:bodyPr/>
          <a:lstStyle/>
          <a:p>
            <a:r>
              <a:rPr sz="2600" b="1" dirty="0">
                <a:solidFill>
                  <a:srgbClr val="6C3D91"/>
                </a:solidFill>
                <a:latin typeface="Aptos Display"/>
              </a:rPr>
              <a:t>The learning problem</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PROBLEM DEFINITION &amp; TEP FRAMEWORK</a:t>
            </a:r>
          </a:p>
        </p:txBody>
      </p:sp>
      <p:sp>
        <p:nvSpPr>
          <p:cNvPr id="4" name="Rectangle 3"/>
          <p:cNvSpPr/>
          <p:nvPr/>
        </p:nvSpPr>
        <p:spPr>
          <a:xfrm>
            <a:off x="457200"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T</a:t>
            </a:r>
          </a:p>
        </p:txBody>
      </p:sp>
      <p:sp>
        <p:nvSpPr>
          <p:cNvPr id="5" name="TextBox 4"/>
          <p:cNvSpPr txBox="1"/>
          <p:nvPr/>
        </p:nvSpPr>
        <p:spPr>
          <a:xfrm>
            <a:off x="1234440" y="1554480"/>
            <a:ext cx="2880360" cy="640080"/>
          </a:xfrm>
          <a:prstGeom prst="rect">
            <a:avLst/>
          </a:prstGeom>
          <a:noFill/>
        </p:spPr>
        <p:txBody>
          <a:bodyPr wrap="square">
            <a:spAutoFit/>
          </a:bodyPr>
          <a:lstStyle/>
          <a:p>
            <a:pPr algn="l">
              <a:spcAft>
                <a:spcPts val="600"/>
              </a:spcAft>
            </a:pPr>
            <a:r>
              <a:rPr sz="1800" b="1">
                <a:solidFill>
                  <a:srgbClr val="6C3D91"/>
                </a:solidFill>
                <a:latin typeface="Aptos"/>
              </a:rPr>
              <a:t>Task</a:t>
            </a:r>
          </a:p>
        </p:txBody>
      </p:sp>
      <p:sp>
        <p:nvSpPr>
          <p:cNvPr id="6" name="TextBox 5"/>
          <p:cNvSpPr txBox="1"/>
          <p:nvPr/>
        </p:nvSpPr>
        <p:spPr>
          <a:xfrm>
            <a:off x="457200" y="2377440"/>
            <a:ext cx="3657600" cy="954107"/>
          </a:xfrm>
          <a:prstGeom prst="rect">
            <a:avLst/>
          </a:prstGeom>
          <a:noFill/>
        </p:spPr>
        <p:txBody>
          <a:bodyPr wrap="square">
            <a:spAutoFit/>
          </a:bodyPr>
          <a:lstStyle/>
          <a:p>
            <a:pPr algn="l">
              <a:spcAft>
                <a:spcPts val="600"/>
              </a:spcAft>
            </a:pPr>
            <a:r>
              <a:rPr sz="1400" b="0" dirty="0">
                <a:solidFill>
                  <a:srgbClr val="222222"/>
                </a:solidFill>
                <a:latin typeface="Aptos"/>
              </a:rPr>
              <a:t>Choose the placement that </a:t>
            </a:r>
            <a:r>
              <a:rPr sz="1400" b="0" dirty="0" err="1">
                <a:solidFill>
                  <a:srgbClr val="222222"/>
                </a:solidFill>
                <a:latin typeface="Aptos"/>
              </a:rPr>
              <a:t>maximises</a:t>
            </a:r>
            <a:r>
              <a:rPr sz="1400" b="0" dirty="0">
                <a:solidFill>
                  <a:srgbClr val="222222"/>
                </a:solidFill>
                <a:latin typeface="Aptos"/>
              </a:rPr>
              <a:t> the final score margin (own − opponent). Category: sequential DECISION-MAKING / CONTROL</a:t>
            </a:r>
          </a:p>
        </p:txBody>
      </p:sp>
      <p:sp>
        <p:nvSpPr>
          <p:cNvPr id="7" name="Rectangle 6"/>
          <p:cNvSpPr/>
          <p:nvPr/>
        </p:nvSpPr>
        <p:spPr>
          <a:xfrm>
            <a:off x="4361688" y="1554480"/>
            <a:ext cx="640080" cy="6400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E</a:t>
            </a:r>
          </a:p>
        </p:txBody>
      </p:sp>
      <p:sp>
        <p:nvSpPr>
          <p:cNvPr id="8" name="TextBox 7"/>
          <p:cNvSpPr txBox="1"/>
          <p:nvPr/>
        </p:nvSpPr>
        <p:spPr>
          <a:xfrm>
            <a:off x="5138928" y="1554480"/>
            <a:ext cx="2880360" cy="640080"/>
          </a:xfrm>
          <a:prstGeom prst="rect">
            <a:avLst/>
          </a:prstGeom>
          <a:noFill/>
        </p:spPr>
        <p:txBody>
          <a:bodyPr wrap="square">
            <a:spAutoFit/>
          </a:bodyPr>
          <a:lstStyle/>
          <a:p>
            <a:pPr algn="l">
              <a:spcAft>
                <a:spcPts val="600"/>
              </a:spcAft>
            </a:pPr>
            <a:r>
              <a:rPr sz="1800" b="1">
                <a:solidFill>
                  <a:srgbClr val="00889C"/>
                </a:solidFill>
                <a:latin typeface="Aptos"/>
              </a:rPr>
              <a:t>Experience</a:t>
            </a:r>
          </a:p>
        </p:txBody>
      </p:sp>
      <p:sp>
        <p:nvSpPr>
          <p:cNvPr id="9" name="TextBox 8"/>
          <p:cNvSpPr txBox="1"/>
          <p:nvPr/>
        </p:nvSpPr>
        <p:spPr>
          <a:xfrm>
            <a:off x="4361688" y="2377440"/>
            <a:ext cx="3657600" cy="954107"/>
          </a:xfrm>
          <a:prstGeom prst="rect">
            <a:avLst/>
          </a:prstGeom>
          <a:noFill/>
        </p:spPr>
        <p:txBody>
          <a:bodyPr wrap="square">
            <a:spAutoFit/>
          </a:bodyPr>
          <a:lstStyle/>
          <a:p>
            <a:pPr algn="l">
              <a:spcAft>
                <a:spcPts val="600"/>
              </a:spcAft>
            </a:pPr>
            <a:r>
              <a:rPr sz="1400" b="0" dirty="0">
                <a:solidFill>
                  <a:srgbClr val="222222"/>
                </a:solidFill>
                <a:latin typeface="Aptos"/>
              </a:rPr>
              <a:t>Self-generated games: a short warm-up vs Random &amp; Heuristic, then SELF-PLAY against frozen past versions. As the agent improves, so do its opponent</a:t>
            </a:r>
            <a:r>
              <a:rPr lang="en-ZA" sz="1400" b="0" dirty="0">
                <a:solidFill>
                  <a:srgbClr val="222222"/>
                </a:solidFill>
                <a:latin typeface="Aptos"/>
              </a:rPr>
              <a:t>s</a:t>
            </a:r>
            <a:endParaRPr sz="1400" b="0" dirty="0">
              <a:solidFill>
                <a:srgbClr val="222222"/>
              </a:solidFill>
              <a:latin typeface="Aptos"/>
            </a:endParaRPr>
          </a:p>
        </p:txBody>
      </p:sp>
      <p:sp>
        <p:nvSpPr>
          <p:cNvPr id="10" name="Rectangle 9"/>
          <p:cNvSpPr/>
          <p:nvPr/>
        </p:nvSpPr>
        <p:spPr>
          <a:xfrm>
            <a:off x="8266176" y="1554480"/>
            <a:ext cx="640080" cy="6400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FFFFFF"/>
                </a:solidFill>
                <a:latin typeface="Aptos"/>
              </a:rPr>
              <a:t>P</a:t>
            </a:r>
          </a:p>
        </p:txBody>
      </p:sp>
      <p:sp>
        <p:nvSpPr>
          <p:cNvPr id="11" name="TextBox 10"/>
          <p:cNvSpPr txBox="1"/>
          <p:nvPr/>
        </p:nvSpPr>
        <p:spPr>
          <a:xfrm>
            <a:off x="9043416" y="1554480"/>
            <a:ext cx="2880360" cy="640080"/>
          </a:xfrm>
          <a:prstGeom prst="rect">
            <a:avLst/>
          </a:prstGeom>
          <a:noFill/>
        </p:spPr>
        <p:txBody>
          <a:bodyPr wrap="square">
            <a:spAutoFit/>
          </a:bodyPr>
          <a:lstStyle/>
          <a:p>
            <a:pPr algn="l">
              <a:spcAft>
                <a:spcPts val="600"/>
              </a:spcAft>
            </a:pPr>
            <a:r>
              <a:rPr sz="1800" b="1">
                <a:solidFill>
                  <a:srgbClr val="6C3D91"/>
                </a:solidFill>
                <a:latin typeface="Aptos"/>
              </a:rPr>
              <a:t>Performance</a:t>
            </a:r>
          </a:p>
        </p:txBody>
      </p:sp>
      <p:sp>
        <p:nvSpPr>
          <p:cNvPr id="12" name="TextBox 11"/>
          <p:cNvSpPr txBox="1"/>
          <p:nvPr/>
        </p:nvSpPr>
        <p:spPr>
          <a:xfrm>
            <a:off x="8266176" y="2377440"/>
            <a:ext cx="3657600" cy="3291840"/>
          </a:xfrm>
          <a:prstGeom prst="rect">
            <a:avLst/>
          </a:prstGeom>
          <a:noFill/>
        </p:spPr>
        <p:txBody>
          <a:bodyPr wrap="square">
            <a:spAutoFit/>
          </a:bodyPr>
          <a:lstStyle/>
          <a:p>
            <a:pPr algn="l">
              <a:spcAft>
                <a:spcPts val="600"/>
              </a:spcAft>
            </a:pPr>
            <a:r>
              <a:rPr sz="1400" b="0">
                <a:solidFill>
                  <a:srgbClr val="222222"/>
                </a:solidFill>
                <a:latin typeface="Aptos"/>
              </a:rPr>
              <a:t>Four metrics every 100 games: win rate vs Random, vs Heuristic, an Elo rating, and win rate vs a 4-ply Alpha-Beta search.</a:t>
            </a:r>
          </a:p>
        </p:txBody>
      </p:sp>
      <p:sp>
        <p:nvSpPr>
          <p:cNvPr id="13" name="TextBox 12"/>
          <p:cNvSpPr txBox="1"/>
          <p:nvPr/>
        </p:nvSpPr>
        <p:spPr>
          <a:xfrm>
            <a:off x="457200" y="5852160"/>
            <a:ext cx="11247120" cy="548640"/>
          </a:xfrm>
          <a:prstGeom prst="rect">
            <a:avLst/>
          </a:prstGeom>
          <a:noFill/>
        </p:spPr>
        <p:txBody>
          <a:bodyPr wrap="square">
            <a:spAutoFit/>
          </a:bodyPr>
          <a:lstStyle/>
          <a:p>
            <a:pPr algn="l">
              <a:spcAft>
                <a:spcPts val="600"/>
              </a:spcAft>
            </a:pPr>
            <a:r>
              <a:rPr sz="1500" b="1" dirty="0">
                <a:solidFill>
                  <a:srgbClr val="222222"/>
                </a:solidFill>
                <a:latin typeface="Aptos"/>
              </a:rPr>
              <a:t>Goal of the assignment: demonstrate that performance improves with experience.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2800" b="1">
                <a:solidFill>
                  <a:srgbClr val="6C3D91"/>
                </a:solidFill>
                <a:latin typeface="Aptos Display"/>
              </a:rPr>
              <a:t>The algorithm: a self-play Deep Q-Network</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400" b="1">
                <a:solidFill>
                  <a:srgbClr val="00889C"/>
                </a:solidFill>
                <a:latin typeface="Aptos"/>
              </a:rPr>
              <a:t>TECHNICAL UNDERSTANDING &amp; METHODOLOGY</a:t>
            </a:r>
          </a:p>
        </p:txBody>
      </p:sp>
      <p:sp>
        <p:nvSpPr>
          <p:cNvPr id="4" name="Rectangle 3"/>
          <p:cNvSpPr/>
          <p:nvPr/>
        </p:nvSpPr>
        <p:spPr>
          <a:xfrm>
            <a:off x="54864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10-channel
board state</a:t>
            </a:r>
          </a:p>
        </p:txBody>
      </p:sp>
      <p:sp>
        <p:nvSpPr>
          <p:cNvPr id="5" name="TextBox 4"/>
          <p:cNvSpPr txBox="1"/>
          <p:nvPr/>
        </p:nvSpPr>
        <p:spPr>
          <a:xfrm>
            <a:off x="283464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6" name="Rectangle 5"/>
          <p:cNvSpPr/>
          <p:nvPr/>
        </p:nvSpPr>
        <p:spPr>
          <a:xfrm>
            <a:off x="333756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Residual CNN
(4 blocks, 64ch)</a:t>
            </a:r>
          </a:p>
        </p:txBody>
      </p:sp>
      <p:sp>
        <p:nvSpPr>
          <p:cNvPr id="7" name="TextBox 6"/>
          <p:cNvSpPr txBox="1"/>
          <p:nvPr/>
        </p:nvSpPr>
        <p:spPr>
          <a:xfrm>
            <a:off x="562356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8" name="Rectangle 7"/>
          <p:cNvSpPr/>
          <p:nvPr/>
        </p:nvSpPr>
        <p:spPr>
          <a:xfrm>
            <a:off x="6126480" y="1508760"/>
            <a:ext cx="2286000" cy="86868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Q-value
per cell</a:t>
            </a:r>
          </a:p>
        </p:txBody>
      </p:sp>
      <p:sp>
        <p:nvSpPr>
          <p:cNvPr id="9" name="TextBox 8"/>
          <p:cNvSpPr txBox="1"/>
          <p:nvPr/>
        </p:nvSpPr>
        <p:spPr>
          <a:xfrm>
            <a:off x="8412480" y="1737360"/>
            <a:ext cx="502920" cy="457200"/>
          </a:xfrm>
          <a:prstGeom prst="rect">
            <a:avLst/>
          </a:prstGeom>
          <a:noFill/>
        </p:spPr>
        <p:txBody>
          <a:bodyPr wrap="square">
            <a:spAutoFit/>
          </a:bodyPr>
          <a:lstStyle/>
          <a:p>
            <a:pPr algn="ctr">
              <a:spcAft>
                <a:spcPts val="600"/>
              </a:spcAft>
            </a:pPr>
            <a:r>
              <a:rPr sz="2400" b="1">
                <a:solidFill>
                  <a:srgbClr val="525A60"/>
                </a:solidFill>
                <a:latin typeface="Aptos"/>
              </a:rPr>
              <a:t>→</a:t>
            </a:r>
          </a:p>
        </p:txBody>
      </p:sp>
      <p:sp>
        <p:nvSpPr>
          <p:cNvPr id="10" name="Rectangle 9"/>
          <p:cNvSpPr/>
          <p:nvPr/>
        </p:nvSpPr>
        <p:spPr>
          <a:xfrm>
            <a:off x="8915400" y="1508760"/>
            <a:ext cx="2286000" cy="86868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a:solidFill>
                  <a:srgbClr val="FFFFFF"/>
                </a:solidFill>
                <a:latin typeface="Aptos"/>
              </a:rPr>
              <a:t>ε-greedy
move</a:t>
            </a:r>
          </a:p>
        </p:txBody>
      </p:sp>
      <p:sp>
        <p:nvSpPr>
          <p:cNvPr id="11" name="TextBox 10"/>
          <p:cNvSpPr txBox="1"/>
          <p:nvPr/>
        </p:nvSpPr>
        <p:spPr>
          <a:xfrm>
            <a:off x="548640" y="2514600"/>
            <a:ext cx="10972800" cy="369332"/>
          </a:xfrm>
          <a:prstGeom prst="rect">
            <a:avLst/>
          </a:prstGeom>
          <a:noFill/>
        </p:spPr>
        <p:txBody>
          <a:bodyPr wrap="square">
            <a:spAutoFit/>
          </a:bodyPr>
          <a:lstStyle/>
          <a:p>
            <a:pPr algn="l">
              <a:spcAft>
                <a:spcPts val="600"/>
              </a:spcAft>
            </a:pPr>
            <a:r>
              <a:rPr b="0" dirty="0">
                <a:solidFill>
                  <a:srgbClr val="525A60"/>
                </a:solidFill>
                <a:latin typeface="Aptos"/>
              </a:rPr>
              <a:t>Learning loop: transitions are stored in a replay buffer and feed gradient updates.</a:t>
            </a:r>
          </a:p>
        </p:txBody>
      </p:sp>
      <p:sp>
        <p:nvSpPr>
          <p:cNvPr id="12" name="TextBox 11"/>
          <p:cNvSpPr txBox="1"/>
          <p:nvPr/>
        </p:nvSpPr>
        <p:spPr>
          <a:xfrm>
            <a:off x="548640" y="3108960"/>
            <a:ext cx="5394960" cy="2908489"/>
          </a:xfrm>
          <a:prstGeom prst="rect">
            <a:avLst/>
          </a:prstGeom>
          <a:noFill/>
        </p:spPr>
        <p:txBody>
          <a:bodyPr wrap="square">
            <a:spAutoFit/>
          </a:bodyPr>
          <a:lstStyle/>
          <a:p>
            <a:pPr algn="l">
              <a:spcAft>
                <a:spcPts val="600"/>
              </a:spcAft>
            </a:pPr>
            <a:r>
              <a:rPr sz="2800" b="1" dirty="0">
                <a:solidFill>
                  <a:srgbClr val="6C3D91"/>
                </a:solidFill>
                <a:latin typeface="Aptos"/>
              </a:rPr>
              <a:t>Why DQN?</a:t>
            </a:r>
          </a:p>
          <a:p>
            <a:pPr algn="l">
              <a:spcAft>
                <a:spcPts val="600"/>
              </a:spcAft>
            </a:pPr>
            <a:r>
              <a:rPr sz="2000" b="0" dirty="0">
                <a:solidFill>
                  <a:srgbClr val="222222"/>
                </a:solidFill>
                <a:latin typeface="Aptos"/>
              </a:rPr>
              <a:t>•  Sequential control with delayed reward</a:t>
            </a:r>
            <a:r>
              <a:rPr lang="en-US" sz="2000" b="0" dirty="0">
                <a:solidFill>
                  <a:srgbClr val="222222"/>
                </a:solidFill>
                <a:latin typeface="Aptos"/>
              </a:rPr>
              <a:t>, </a:t>
            </a:r>
            <a:r>
              <a:rPr sz="2000" b="0" dirty="0">
                <a:solidFill>
                  <a:srgbClr val="222222"/>
                </a:solidFill>
                <a:latin typeface="Aptos"/>
              </a:rPr>
              <a:t>a move's value only emerges when the board fills.</a:t>
            </a:r>
          </a:p>
          <a:p>
            <a:pPr algn="l">
              <a:spcAft>
                <a:spcPts val="600"/>
              </a:spcAft>
            </a:pPr>
            <a:r>
              <a:rPr sz="2000" b="0" dirty="0">
                <a:solidFill>
                  <a:srgbClr val="222222"/>
                </a:solidFill>
                <a:latin typeface="Aptos"/>
              </a:rPr>
              <a:t>•  Q-learning's TD target is built for that credit assignment.</a:t>
            </a:r>
          </a:p>
          <a:p>
            <a:pPr algn="l">
              <a:spcAft>
                <a:spcPts val="600"/>
              </a:spcAft>
            </a:pPr>
            <a:r>
              <a:rPr sz="2000" b="0" dirty="0">
                <a:solidFill>
                  <a:srgbClr val="222222"/>
                </a:solidFill>
                <a:latin typeface="Aptos"/>
              </a:rPr>
              <a:t>•  No labelled 'correct' moves exist for an original game, so supervised learning does not apply.</a:t>
            </a:r>
          </a:p>
        </p:txBody>
      </p:sp>
      <p:sp>
        <p:nvSpPr>
          <p:cNvPr id="13" name="TextBox 12"/>
          <p:cNvSpPr txBox="1"/>
          <p:nvPr/>
        </p:nvSpPr>
        <p:spPr>
          <a:xfrm>
            <a:off x="6217920" y="3108960"/>
            <a:ext cx="5394960" cy="2292935"/>
          </a:xfrm>
          <a:prstGeom prst="rect">
            <a:avLst/>
          </a:prstGeom>
          <a:noFill/>
        </p:spPr>
        <p:txBody>
          <a:bodyPr wrap="square">
            <a:spAutoFit/>
          </a:bodyPr>
          <a:lstStyle/>
          <a:p>
            <a:pPr algn="l">
              <a:spcAft>
                <a:spcPts val="600"/>
              </a:spcAft>
            </a:pPr>
            <a:r>
              <a:rPr sz="2800" b="1" dirty="0">
                <a:solidFill>
                  <a:srgbClr val="00889C"/>
                </a:solidFill>
                <a:latin typeface="Aptos"/>
              </a:rPr>
              <a:t>Reward design</a:t>
            </a:r>
          </a:p>
          <a:p>
            <a:pPr algn="l">
              <a:spcAft>
                <a:spcPts val="600"/>
              </a:spcAft>
            </a:pPr>
            <a:r>
              <a:rPr sz="2000" b="0" dirty="0">
                <a:solidFill>
                  <a:srgbClr val="222222"/>
                </a:solidFill>
                <a:latin typeface="Aptos"/>
              </a:rPr>
              <a:t>•  Dense delta-score shaping: per-move change in (own − opponent) score.</a:t>
            </a:r>
          </a:p>
          <a:p>
            <a:pPr algn="l">
              <a:spcAft>
                <a:spcPts val="600"/>
              </a:spcAft>
            </a:pPr>
            <a:r>
              <a:rPr sz="2000" b="0" dirty="0">
                <a:solidFill>
                  <a:srgbClr val="222222"/>
                </a:solidFill>
                <a:latin typeface="Aptos"/>
              </a:rPr>
              <a:t>•  Plus a terminal ±1 for the win / loss.</a:t>
            </a:r>
          </a:p>
          <a:p>
            <a:pPr algn="l">
              <a:spcAft>
                <a:spcPts val="600"/>
              </a:spcAft>
            </a:pPr>
            <a:r>
              <a:rPr sz="2000" b="0" dirty="0">
                <a:solidFill>
                  <a:srgbClr val="222222"/>
                </a:solidFill>
                <a:latin typeface="Aptos"/>
              </a:rPr>
              <a:t>•  </a:t>
            </a:r>
            <a:r>
              <a:rPr lang="en-ZA" sz="2000" dirty="0">
                <a:solidFill>
                  <a:srgbClr val="222222"/>
                </a:solidFill>
                <a:latin typeface="Aptos"/>
              </a:rPr>
              <a:t>E</a:t>
            </a:r>
            <a:r>
              <a:rPr sz="2000" b="0" dirty="0">
                <a:solidFill>
                  <a:srgbClr val="222222"/>
                </a:solidFill>
                <a:latin typeface="Aptos"/>
              </a:rPr>
              <a:t>very step points to the same goal as the final outcome.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a:solidFill>
                  <a:srgbClr val="6C3D91"/>
                </a:solidFill>
                <a:latin typeface="Aptos Display"/>
              </a:rPr>
              <a:t>Three implementation choices that make it work</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TECHNICAL UNDERSTANDING &amp; METHODOLOGY</a:t>
            </a:r>
          </a:p>
        </p:txBody>
      </p:sp>
      <p:sp>
        <p:nvSpPr>
          <p:cNvPr id="4" name="Rectangle 3"/>
          <p:cNvSpPr/>
          <p:nvPr/>
        </p:nvSpPr>
        <p:spPr>
          <a:xfrm>
            <a:off x="548640" y="160020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976524" y="1899768"/>
            <a:ext cx="10789920" cy="777136"/>
          </a:xfrm>
          <a:prstGeom prst="rect">
            <a:avLst/>
          </a:prstGeom>
          <a:noFill/>
        </p:spPr>
        <p:txBody>
          <a:bodyPr wrap="square">
            <a:spAutoFit/>
          </a:bodyPr>
          <a:lstStyle/>
          <a:p>
            <a:pPr algn="l">
              <a:spcAft>
                <a:spcPts val="300"/>
              </a:spcAft>
            </a:pPr>
            <a:r>
              <a:rPr sz="2400" b="1" dirty="0" err="1">
                <a:solidFill>
                  <a:srgbClr val="6C3D91"/>
                </a:solidFill>
                <a:latin typeface="Aptos"/>
              </a:rPr>
              <a:t>Negamax</a:t>
            </a:r>
            <a:r>
              <a:rPr sz="2400" b="1" dirty="0">
                <a:solidFill>
                  <a:srgbClr val="6C3D91"/>
                </a:solidFill>
                <a:latin typeface="Aptos"/>
              </a:rPr>
              <a:t> value target</a:t>
            </a:r>
          </a:p>
          <a:p>
            <a:pPr algn="l">
              <a:spcAft>
                <a:spcPts val="600"/>
              </a:spcAft>
            </a:pPr>
            <a:r>
              <a:rPr b="0" dirty="0">
                <a:solidFill>
                  <a:srgbClr val="222222"/>
                </a:solidFill>
                <a:latin typeface="Aptos"/>
              </a:rPr>
              <a:t>The next position is the OPPONENT's, so the bootstrap is subtracted, not added:  target = r − </a:t>
            </a:r>
            <a:r>
              <a:rPr b="0" dirty="0" err="1">
                <a:solidFill>
                  <a:srgbClr val="222222"/>
                </a:solidFill>
                <a:latin typeface="Aptos"/>
              </a:rPr>
              <a:t>γ·max</a:t>
            </a:r>
            <a:r>
              <a:rPr b="0" dirty="0">
                <a:solidFill>
                  <a:srgbClr val="222222"/>
                </a:solidFill>
                <a:latin typeface="Aptos"/>
              </a:rPr>
              <a:t> Q(s′). </a:t>
            </a:r>
          </a:p>
        </p:txBody>
      </p:sp>
      <p:sp>
        <p:nvSpPr>
          <p:cNvPr id="6" name="Rectangle 5"/>
          <p:cNvSpPr/>
          <p:nvPr/>
        </p:nvSpPr>
        <p:spPr>
          <a:xfrm>
            <a:off x="548640" y="2926080"/>
            <a:ext cx="109728" cy="114300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822960" y="2926080"/>
            <a:ext cx="10789920" cy="1054135"/>
          </a:xfrm>
          <a:prstGeom prst="rect">
            <a:avLst/>
          </a:prstGeom>
          <a:noFill/>
        </p:spPr>
        <p:txBody>
          <a:bodyPr wrap="square">
            <a:spAutoFit/>
          </a:bodyPr>
          <a:lstStyle/>
          <a:p>
            <a:pPr algn="l">
              <a:spcAft>
                <a:spcPts val="300"/>
              </a:spcAft>
            </a:pPr>
            <a:r>
              <a:rPr sz="2400" b="1">
                <a:solidFill>
                  <a:srgbClr val="00889C"/>
                </a:solidFill>
                <a:latin typeface="Aptos"/>
              </a:rPr>
              <a:t>Double DQN + Huber loss</a:t>
            </a:r>
          </a:p>
          <a:p>
            <a:pPr algn="l">
              <a:spcAft>
                <a:spcPts val="600"/>
              </a:spcAft>
            </a:pPr>
            <a:r>
              <a:rPr b="0">
                <a:solidFill>
                  <a:srgbClr val="222222"/>
                </a:solidFill>
                <a:latin typeface="Aptos"/>
              </a:rPr>
              <a:t>The online net selects the action, the target net evaluates it — cutting overestimation. Huber loss keeps updates stable against large TD errors. Together: no late-run collapse.</a:t>
            </a:r>
          </a:p>
        </p:txBody>
      </p:sp>
      <p:sp>
        <p:nvSpPr>
          <p:cNvPr id="8" name="Rectangle 7"/>
          <p:cNvSpPr/>
          <p:nvPr/>
        </p:nvSpPr>
        <p:spPr>
          <a:xfrm>
            <a:off x="548640" y="4251960"/>
            <a:ext cx="109728" cy="114300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4251960"/>
            <a:ext cx="10789920" cy="1054135"/>
          </a:xfrm>
          <a:prstGeom prst="rect">
            <a:avLst/>
          </a:prstGeom>
          <a:noFill/>
        </p:spPr>
        <p:txBody>
          <a:bodyPr wrap="square">
            <a:spAutoFit/>
          </a:bodyPr>
          <a:lstStyle/>
          <a:p>
            <a:pPr algn="l">
              <a:spcAft>
                <a:spcPts val="300"/>
              </a:spcAft>
            </a:pPr>
            <a:r>
              <a:rPr sz="2400" b="1">
                <a:solidFill>
                  <a:srgbClr val="6C3D91"/>
                </a:solidFill>
                <a:latin typeface="Aptos"/>
              </a:rPr>
              <a:t>D4 symmetry augmentation</a:t>
            </a:r>
          </a:p>
          <a:p>
            <a:pPr algn="l">
              <a:spcAft>
                <a:spcPts val="600"/>
              </a:spcAft>
            </a:pPr>
            <a:r>
              <a:rPr b="0">
                <a:solidFill>
                  <a:srgbClr val="222222"/>
                </a:solidFill>
                <a:latin typeface="Aptos"/>
              </a:rPr>
              <a:t>Every board is also 7 rotations / reflections — multiplying training data eight-fold for free and regularising toward the board's true symmetry.</a:t>
            </a:r>
          </a:p>
        </p:txBody>
      </p:sp>
      <p:sp>
        <p:nvSpPr>
          <p:cNvPr id="10" name="TextBox 9"/>
          <p:cNvSpPr txBox="1"/>
          <p:nvPr/>
        </p:nvSpPr>
        <p:spPr>
          <a:xfrm>
            <a:off x="822960" y="5577840"/>
            <a:ext cx="10789920" cy="584775"/>
          </a:xfrm>
          <a:prstGeom prst="rect">
            <a:avLst/>
          </a:prstGeom>
          <a:noFill/>
        </p:spPr>
        <p:txBody>
          <a:bodyPr wrap="square">
            <a:spAutoFit/>
          </a:bodyPr>
          <a:lstStyle/>
          <a:p>
            <a:pPr algn="l">
              <a:spcAft>
                <a:spcPts val="600"/>
              </a:spcAft>
            </a:pPr>
            <a:r>
              <a:rPr sz="1600" b="0">
                <a:solidFill>
                  <a:srgbClr val="525A60"/>
                </a:solidFill>
                <a:latin typeface="Aptos"/>
              </a:rPr>
              <a:t>Plus: target-network sync, gradient clipping, plateau LR decay, and snapshotting every 1,000 games into 10 playable difficulty levels.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Result: performance improves with experience</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combined_progress.png"/>
          <p:cNvPicPr>
            <a:picLocks noChangeAspect="1"/>
          </p:cNvPicPr>
          <p:nvPr/>
        </p:nvPicPr>
        <p:blipFill>
          <a:blip r:embed="rId3"/>
          <a:stretch>
            <a:fillRect/>
          </a:stretch>
        </p:blipFill>
        <p:spPr>
          <a:xfrm>
            <a:off x="457200" y="1554480"/>
            <a:ext cx="7315200" cy="4130936"/>
          </a:xfrm>
          <a:prstGeom prst="rect">
            <a:avLst/>
          </a:prstGeom>
        </p:spPr>
      </p:pic>
      <p:sp>
        <p:nvSpPr>
          <p:cNvPr id="5" name="TextBox 4"/>
          <p:cNvSpPr txBox="1"/>
          <p:nvPr/>
        </p:nvSpPr>
        <p:spPr>
          <a:xfrm>
            <a:off x="8138160" y="1737360"/>
            <a:ext cx="3657600" cy="1188720"/>
          </a:xfrm>
          <a:prstGeom prst="rect">
            <a:avLst/>
          </a:prstGeom>
          <a:noFill/>
        </p:spPr>
        <p:txBody>
          <a:bodyPr wrap="square">
            <a:spAutoFit/>
          </a:bodyPr>
          <a:lstStyle/>
          <a:p>
            <a:pPr algn="l">
              <a:spcAft>
                <a:spcPts val="0"/>
              </a:spcAft>
            </a:pPr>
            <a:r>
              <a:rPr sz="2600" b="1">
                <a:solidFill>
                  <a:srgbClr val="6C3D91"/>
                </a:solidFill>
                <a:latin typeface="Aptos"/>
              </a:rPr>
              <a:t>796 → 1190</a:t>
            </a:r>
          </a:p>
          <a:p>
            <a:pPr algn="l">
              <a:spcAft>
                <a:spcPts val="600"/>
              </a:spcAft>
            </a:pPr>
            <a:r>
              <a:rPr sz="1300" b="0">
                <a:solidFill>
                  <a:srgbClr val="525A60"/>
                </a:solidFill>
                <a:latin typeface="Aptos"/>
              </a:rPr>
              <a:t>Elo (monotone, +394)</a:t>
            </a:r>
          </a:p>
        </p:txBody>
      </p:sp>
      <p:sp>
        <p:nvSpPr>
          <p:cNvPr id="6" name="TextBox 5"/>
          <p:cNvSpPr txBox="1"/>
          <p:nvPr/>
        </p:nvSpPr>
        <p:spPr>
          <a:xfrm>
            <a:off x="8138160" y="3108960"/>
            <a:ext cx="3657600" cy="1188720"/>
          </a:xfrm>
          <a:prstGeom prst="rect">
            <a:avLst/>
          </a:prstGeom>
          <a:noFill/>
        </p:spPr>
        <p:txBody>
          <a:bodyPr wrap="square">
            <a:spAutoFit/>
          </a:bodyPr>
          <a:lstStyle/>
          <a:p>
            <a:pPr algn="l">
              <a:spcAft>
                <a:spcPts val="0"/>
              </a:spcAft>
            </a:pPr>
            <a:r>
              <a:rPr sz="2600" b="1">
                <a:solidFill>
                  <a:srgbClr val="00889C"/>
                </a:solidFill>
                <a:latin typeface="Aptos"/>
              </a:rPr>
              <a:t>52.5% → 100%</a:t>
            </a:r>
          </a:p>
          <a:p>
            <a:pPr algn="l">
              <a:spcAft>
                <a:spcPts val="600"/>
              </a:spcAft>
            </a:pPr>
            <a:r>
              <a:rPr sz="1300" b="0">
                <a:solidFill>
                  <a:srgbClr val="525A60"/>
                </a:solidFill>
                <a:latin typeface="Aptos"/>
              </a:rPr>
              <a:t>Win rate vs Random</a:t>
            </a:r>
          </a:p>
        </p:txBody>
      </p:sp>
      <p:sp>
        <p:nvSpPr>
          <p:cNvPr id="7" name="TextBox 6"/>
          <p:cNvSpPr txBox="1"/>
          <p:nvPr/>
        </p:nvSpPr>
        <p:spPr>
          <a:xfrm>
            <a:off x="8138160" y="4480560"/>
            <a:ext cx="3657600" cy="1188720"/>
          </a:xfrm>
          <a:prstGeom prst="rect">
            <a:avLst/>
          </a:prstGeom>
          <a:noFill/>
        </p:spPr>
        <p:txBody>
          <a:bodyPr wrap="square">
            <a:spAutoFit/>
          </a:bodyPr>
          <a:lstStyle/>
          <a:p>
            <a:pPr algn="l">
              <a:spcAft>
                <a:spcPts val="0"/>
              </a:spcAft>
            </a:pPr>
            <a:r>
              <a:rPr sz="2600" b="1">
                <a:solidFill>
                  <a:srgbClr val="6C3D91"/>
                </a:solidFill>
                <a:latin typeface="Aptos"/>
              </a:rPr>
              <a:t>46% → 100%</a:t>
            </a:r>
          </a:p>
          <a:p>
            <a:pPr algn="l">
              <a:spcAft>
                <a:spcPts val="600"/>
              </a:spcAft>
            </a:pPr>
            <a:r>
              <a:rPr sz="1300" b="0">
                <a:solidFill>
                  <a:srgbClr val="525A60"/>
                </a:solidFill>
                <a:latin typeface="Aptos"/>
              </a:rPr>
              <a:t>Win rate vs Heuristic</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700" b="1">
                <a:solidFill>
                  <a:srgbClr val="6C3D91"/>
                </a:solidFill>
                <a:latin typeface="Aptos Display"/>
              </a:rPr>
              <a:t>The decisive test: beating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RESULTS PRESENTATION &amp; ANALYSIS</a:t>
            </a:r>
          </a:p>
        </p:txBody>
      </p:sp>
      <p:pic>
        <p:nvPicPr>
          <p:cNvPr id="4" name="Picture 3" descr="benchmark_vs_alphabeta.png"/>
          <p:cNvPicPr>
            <a:picLocks noChangeAspect="1"/>
          </p:cNvPicPr>
          <p:nvPr/>
        </p:nvPicPr>
        <p:blipFill>
          <a:blip r:embed="rId3"/>
          <a:stretch>
            <a:fillRect/>
          </a:stretch>
        </p:blipFill>
        <p:spPr>
          <a:xfrm>
            <a:off x="457200" y="1554480"/>
            <a:ext cx="7315200" cy="4114800"/>
          </a:xfrm>
          <a:prstGeom prst="rect">
            <a:avLst/>
          </a:prstGeom>
        </p:spPr>
      </p:pic>
      <p:sp>
        <p:nvSpPr>
          <p:cNvPr id="5" name="TextBox 4"/>
          <p:cNvSpPr txBox="1"/>
          <p:nvPr/>
        </p:nvSpPr>
        <p:spPr>
          <a:xfrm>
            <a:off x="8138160" y="1737360"/>
            <a:ext cx="3657600" cy="4114800"/>
          </a:xfrm>
          <a:prstGeom prst="rect">
            <a:avLst/>
          </a:prstGeom>
          <a:noFill/>
        </p:spPr>
        <p:txBody>
          <a:bodyPr wrap="square">
            <a:spAutoFit/>
          </a:bodyPr>
          <a:lstStyle/>
          <a:p>
            <a:pPr algn="l">
              <a:spcAft>
                <a:spcPts val="200"/>
              </a:spcAft>
            </a:pPr>
            <a:r>
              <a:rPr sz="1800" b="1">
                <a:solidFill>
                  <a:srgbClr val="6C3D91"/>
                </a:solidFill>
                <a:latin typeface="Aptos"/>
              </a:rPr>
              <a:t>vs Alpha-Beta depth-4</a:t>
            </a:r>
          </a:p>
          <a:p>
            <a:pPr algn="l">
              <a:spcAft>
                <a:spcPts val="1600"/>
              </a:spcAft>
            </a:pPr>
            <a:r>
              <a:rPr sz="1300" b="0">
                <a:solidFill>
                  <a:srgbClr val="525A60"/>
                </a:solidFill>
                <a:latin typeface="Aptos"/>
              </a:rPr>
              <a:t>an opponent the agent NEVER trains against</a:t>
            </a:r>
          </a:p>
          <a:p>
            <a:pPr algn="l">
              <a:spcAft>
                <a:spcPts val="0"/>
              </a:spcAft>
            </a:pPr>
            <a:r>
              <a:rPr sz="2400" b="1">
                <a:solidFill>
                  <a:srgbClr val="00889C"/>
                </a:solidFill>
                <a:latin typeface="Aptos"/>
              </a:rPr>
              <a:t>19% → 100%</a:t>
            </a:r>
          </a:p>
          <a:p>
            <a:pPr algn="l">
              <a:spcAft>
                <a:spcPts val="1600"/>
              </a:spcAft>
            </a:pPr>
            <a:r>
              <a:rPr sz="1300" b="0">
                <a:solidFill>
                  <a:srgbClr val="525A60"/>
                </a:solidFill>
                <a:latin typeface="Aptos"/>
              </a:rPr>
              <a:t>win rate</a:t>
            </a:r>
          </a:p>
          <a:p>
            <a:pPr algn="l">
              <a:spcAft>
                <a:spcPts val="0"/>
              </a:spcAft>
            </a:pPr>
            <a:r>
              <a:rPr sz="2400" b="1">
                <a:solidFill>
                  <a:srgbClr val="6C3D91"/>
                </a:solidFill>
                <a:latin typeface="Aptos"/>
              </a:rPr>
              <a:t>−0.83 → +1.17</a:t>
            </a:r>
          </a:p>
          <a:p>
            <a:pPr algn="l">
              <a:spcAft>
                <a:spcPts val="1600"/>
              </a:spcAft>
            </a:pPr>
            <a:r>
              <a:rPr sz="1300" b="0">
                <a:solidFill>
                  <a:srgbClr val="525A60"/>
                </a:solidFill>
                <a:latin typeface="Aptos"/>
              </a:rPr>
              <a:t>mean score margin (sign flips)</a:t>
            </a:r>
          </a:p>
          <a:p>
            <a:pPr algn="l">
              <a:spcAft>
                <a:spcPts val="600"/>
              </a:spcAft>
            </a:pPr>
            <a:r>
              <a:rPr sz="1300" b="0">
                <a:solidFill>
                  <a:srgbClr val="222222"/>
                </a:solidFill>
                <a:latin typeface="Aptos"/>
              </a:rPr>
              <a:t>Winning by a margin against an independent search = genuine generalisation, not memorisation.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600" b="1">
                <a:solidFill>
                  <a:srgbClr val="6C3D91"/>
                </a:solidFill>
                <a:latin typeface="Aptos Display"/>
              </a:rPr>
              <a:t>Critical analysis</a:t>
            </a:r>
          </a:p>
        </p:txBody>
      </p:sp>
      <p:sp>
        <p:nvSpPr>
          <p:cNvPr id="3" name="TextBox 2"/>
          <p:cNvSpPr txBox="1"/>
          <p:nvPr/>
        </p:nvSpPr>
        <p:spPr>
          <a:xfrm>
            <a:off x="457200" y="256032"/>
            <a:ext cx="8229600" cy="338554"/>
          </a:xfrm>
          <a:prstGeom prst="rect">
            <a:avLst/>
          </a:prstGeom>
          <a:noFill/>
        </p:spPr>
        <p:txBody>
          <a:bodyPr wrap="square">
            <a:spAutoFit/>
          </a:bodyPr>
          <a:lstStyle/>
          <a:p>
            <a:pPr algn="l">
              <a:spcAft>
                <a:spcPts val="600"/>
              </a:spcAft>
            </a:pPr>
            <a:r>
              <a:rPr sz="1600" b="1">
                <a:solidFill>
                  <a:srgbClr val="00889C"/>
                </a:solidFill>
                <a:latin typeface="Aptos"/>
              </a:rPr>
              <a:t>CRITICAL THINKING</a:t>
            </a:r>
          </a:p>
        </p:txBody>
      </p:sp>
      <p:sp>
        <p:nvSpPr>
          <p:cNvPr id="4" name="Rectangle 3"/>
          <p:cNvSpPr/>
          <p:nvPr/>
        </p:nvSpPr>
        <p:spPr>
          <a:xfrm>
            <a:off x="548640" y="1645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5" name="TextBox 4"/>
          <p:cNvSpPr txBox="1"/>
          <p:nvPr/>
        </p:nvSpPr>
        <p:spPr>
          <a:xfrm>
            <a:off x="822960" y="1645920"/>
            <a:ext cx="5212080" cy="1343958"/>
          </a:xfrm>
          <a:prstGeom prst="rect">
            <a:avLst/>
          </a:prstGeom>
          <a:noFill/>
        </p:spPr>
        <p:txBody>
          <a:bodyPr wrap="square">
            <a:spAutoFit/>
          </a:bodyPr>
          <a:lstStyle/>
          <a:p>
            <a:pPr algn="l">
              <a:spcAft>
                <a:spcPts val="400"/>
              </a:spcAft>
            </a:pPr>
            <a:r>
              <a:rPr sz="2400" b="1">
                <a:solidFill>
                  <a:srgbClr val="6C3D91"/>
                </a:solidFill>
                <a:latin typeface="Aptos"/>
              </a:rPr>
              <a:t>Model</a:t>
            </a:r>
          </a:p>
          <a:p>
            <a:pPr algn="l">
              <a:spcAft>
                <a:spcPts val="600"/>
              </a:spcAft>
            </a:pPr>
            <a:r>
              <a:rPr b="0">
                <a:solidFill>
                  <a:srgbClr val="222222"/>
                </a:solidFill>
                <a:latin typeface="Aptos"/>
              </a:rPr>
              <a:t>Residual CNN matches local line patterns; tactical channels free the network to weigh threats, not relearn rules.</a:t>
            </a:r>
          </a:p>
        </p:txBody>
      </p:sp>
      <p:sp>
        <p:nvSpPr>
          <p:cNvPr id="6" name="Rectangle 5"/>
          <p:cNvSpPr/>
          <p:nvPr/>
        </p:nvSpPr>
        <p:spPr>
          <a:xfrm>
            <a:off x="6126480" y="1645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7" name="TextBox 6"/>
          <p:cNvSpPr txBox="1"/>
          <p:nvPr/>
        </p:nvSpPr>
        <p:spPr>
          <a:xfrm>
            <a:off x="6400800" y="1645920"/>
            <a:ext cx="5212080" cy="1343958"/>
          </a:xfrm>
          <a:prstGeom prst="rect">
            <a:avLst/>
          </a:prstGeom>
          <a:noFill/>
        </p:spPr>
        <p:txBody>
          <a:bodyPr wrap="square">
            <a:spAutoFit/>
          </a:bodyPr>
          <a:lstStyle/>
          <a:p>
            <a:pPr algn="l">
              <a:spcAft>
                <a:spcPts val="400"/>
              </a:spcAft>
            </a:pPr>
            <a:r>
              <a:rPr sz="2400" b="1">
                <a:solidFill>
                  <a:srgbClr val="00889C"/>
                </a:solidFill>
                <a:latin typeface="Aptos"/>
              </a:rPr>
              <a:t>Method</a:t>
            </a:r>
          </a:p>
          <a:p>
            <a:pPr algn="l">
              <a:spcAft>
                <a:spcPts val="600"/>
              </a:spcAft>
            </a:pPr>
            <a:r>
              <a:rPr b="0">
                <a:solidFill>
                  <a:srgbClr val="222222"/>
                </a:solidFill>
                <a:latin typeface="Aptos"/>
              </a:rPr>
              <a:t>Negamax target keeps the value function coherent; Double-DQN + Huber explain the stable, collapse-free convergence.</a:t>
            </a:r>
          </a:p>
        </p:txBody>
      </p:sp>
      <p:sp>
        <p:nvSpPr>
          <p:cNvPr id="8" name="Rectangle 7"/>
          <p:cNvSpPr/>
          <p:nvPr/>
        </p:nvSpPr>
        <p:spPr>
          <a:xfrm>
            <a:off x="548640" y="3931920"/>
            <a:ext cx="109728" cy="1920240"/>
          </a:xfrm>
          <a:prstGeom prst="rect">
            <a:avLst/>
          </a:prstGeom>
          <a:solidFill>
            <a:srgbClr val="6C3D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9" name="TextBox 8"/>
          <p:cNvSpPr txBox="1"/>
          <p:nvPr/>
        </p:nvSpPr>
        <p:spPr>
          <a:xfrm>
            <a:off x="822960" y="3931920"/>
            <a:ext cx="5212080" cy="1343958"/>
          </a:xfrm>
          <a:prstGeom prst="rect">
            <a:avLst/>
          </a:prstGeom>
          <a:noFill/>
        </p:spPr>
        <p:txBody>
          <a:bodyPr wrap="square">
            <a:spAutoFit/>
          </a:bodyPr>
          <a:lstStyle/>
          <a:p>
            <a:pPr algn="l">
              <a:spcAft>
                <a:spcPts val="400"/>
              </a:spcAft>
            </a:pPr>
            <a:r>
              <a:rPr sz="2400" b="1" dirty="0">
                <a:solidFill>
                  <a:srgbClr val="6C3D91"/>
                </a:solidFill>
                <a:latin typeface="Aptos"/>
              </a:rPr>
              <a:t>Results</a:t>
            </a:r>
          </a:p>
          <a:p>
            <a:pPr algn="l">
              <a:spcAft>
                <a:spcPts val="600"/>
              </a:spcAft>
            </a:pPr>
            <a:r>
              <a:rPr b="0" dirty="0">
                <a:solidFill>
                  <a:srgbClr val="222222"/>
                </a:solidFill>
                <a:latin typeface="Aptos"/>
              </a:rPr>
              <a:t>Win rates saturate at 100% </a:t>
            </a:r>
            <a:r>
              <a:rPr lang="en-US" dirty="0">
                <a:solidFill>
                  <a:srgbClr val="222222"/>
                </a:solidFill>
                <a:latin typeface="Aptos"/>
              </a:rPr>
              <a:t>- </a:t>
            </a:r>
            <a:r>
              <a:rPr b="0" dirty="0">
                <a:solidFill>
                  <a:srgbClr val="222222"/>
                </a:solidFill>
                <a:latin typeface="Aptos"/>
              </a:rPr>
              <a:t>Elo keeps resolving improvement; the per-snapshot noise is why Elo is the headline.</a:t>
            </a:r>
          </a:p>
        </p:txBody>
      </p:sp>
      <p:sp>
        <p:nvSpPr>
          <p:cNvPr id="10" name="Rectangle 9"/>
          <p:cNvSpPr/>
          <p:nvPr/>
        </p:nvSpPr>
        <p:spPr>
          <a:xfrm>
            <a:off x="6126480" y="3931920"/>
            <a:ext cx="109728" cy="1920240"/>
          </a:xfrm>
          <a:prstGeom prst="rect">
            <a:avLst/>
          </a:prstGeom>
          <a:solidFill>
            <a:srgbClr val="0088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400"/>
          </a:p>
        </p:txBody>
      </p:sp>
      <p:sp>
        <p:nvSpPr>
          <p:cNvPr id="11" name="TextBox 10"/>
          <p:cNvSpPr txBox="1"/>
          <p:nvPr/>
        </p:nvSpPr>
        <p:spPr>
          <a:xfrm>
            <a:off x="6400800" y="3931920"/>
            <a:ext cx="5212080" cy="1343958"/>
          </a:xfrm>
          <a:prstGeom prst="rect">
            <a:avLst/>
          </a:prstGeom>
          <a:noFill/>
        </p:spPr>
        <p:txBody>
          <a:bodyPr wrap="square">
            <a:spAutoFit/>
          </a:bodyPr>
          <a:lstStyle/>
          <a:p>
            <a:pPr algn="l">
              <a:spcAft>
                <a:spcPts val="400"/>
              </a:spcAft>
            </a:pPr>
            <a:r>
              <a:rPr sz="2400" b="1" dirty="0">
                <a:solidFill>
                  <a:srgbClr val="00889C"/>
                </a:solidFill>
                <a:latin typeface="Aptos"/>
              </a:rPr>
              <a:t>Improve</a:t>
            </a:r>
          </a:p>
          <a:p>
            <a:pPr algn="l">
              <a:spcAft>
                <a:spcPts val="600"/>
              </a:spcAft>
            </a:pPr>
            <a:r>
              <a:rPr b="0" dirty="0">
                <a:solidFill>
                  <a:srgbClr val="222222"/>
                </a:solidFill>
                <a:latin typeface="Aptos"/>
              </a:rPr>
              <a:t>Multi-seed bands, n-step returns, an AlphaZero-style policy + MCTS head, and a deeper benchmark.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400" b="1" dirty="0">
                <a:solidFill>
                  <a:srgbClr val="6C3D91"/>
                </a:solidFill>
                <a:latin typeface="Aptos Display"/>
              </a:rPr>
              <a:t>A self-play DQN learned an original board game</a:t>
            </a:r>
            <a:r>
              <a:rPr lang="en-ZA" sz="2400" b="1" dirty="0">
                <a:solidFill>
                  <a:srgbClr val="6C3D91"/>
                </a:solidFill>
                <a:latin typeface="Aptos Display"/>
              </a:rPr>
              <a:t>, </a:t>
            </a:r>
            <a:r>
              <a:rPr sz="2400" b="1" dirty="0">
                <a:solidFill>
                  <a:srgbClr val="6C3D91"/>
                </a:solidFill>
                <a:latin typeface="Aptos Display"/>
              </a:rPr>
              <a:t>from a blank slate to out-playing a 4-ply search</a:t>
            </a:r>
          </a:p>
        </p:txBody>
      </p:sp>
      <p:sp>
        <p:nvSpPr>
          <p:cNvPr id="3" name="TextBox 2"/>
          <p:cNvSpPr txBox="1"/>
          <p:nvPr/>
        </p:nvSpPr>
        <p:spPr>
          <a:xfrm>
            <a:off x="457200" y="256032"/>
            <a:ext cx="8229600" cy="320040"/>
          </a:xfrm>
          <a:prstGeom prst="rect">
            <a:avLst/>
          </a:prstGeom>
          <a:noFill/>
        </p:spPr>
        <p:txBody>
          <a:bodyPr wrap="square">
            <a:spAutoFit/>
          </a:bodyPr>
          <a:lstStyle/>
          <a:p>
            <a:pPr algn="l">
              <a:spcAft>
                <a:spcPts val="600"/>
              </a:spcAft>
            </a:pPr>
            <a:r>
              <a:rPr sz="1200" b="1">
                <a:solidFill>
                  <a:srgbClr val="00889C"/>
                </a:solidFill>
                <a:latin typeface="Aptos"/>
              </a:rPr>
              <a:t>IN ONE SENTENCE</a:t>
            </a:r>
          </a:p>
        </p:txBody>
      </p:sp>
      <p:sp>
        <p:nvSpPr>
          <p:cNvPr id="4" name="TextBox 3"/>
          <p:cNvSpPr txBox="1"/>
          <p:nvPr/>
        </p:nvSpPr>
        <p:spPr>
          <a:xfrm>
            <a:off x="731520"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1,190</a:t>
            </a:r>
          </a:p>
          <a:p>
            <a:pPr algn="ctr">
              <a:spcAft>
                <a:spcPts val="600"/>
              </a:spcAft>
            </a:pPr>
            <a:r>
              <a:rPr sz="1400" b="0">
                <a:solidFill>
                  <a:srgbClr val="525A60"/>
                </a:solidFill>
                <a:latin typeface="Aptos"/>
              </a:rPr>
              <a:t>final Elo</a:t>
            </a:r>
          </a:p>
        </p:txBody>
      </p:sp>
      <p:sp>
        <p:nvSpPr>
          <p:cNvPr id="5" name="TextBox 4"/>
          <p:cNvSpPr txBox="1"/>
          <p:nvPr/>
        </p:nvSpPr>
        <p:spPr>
          <a:xfrm>
            <a:off x="4480559"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a:t>
            </a:r>
          </a:p>
          <a:p>
            <a:pPr algn="ctr">
              <a:spcAft>
                <a:spcPts val="600"/>
              </a:spcAft>
            </a:pPr>
            <a:r>
              <a:rPr sz="1400" b="0">
                <a:solidFill>
                  <a:srgbClr val="525A60"/>
                </a:solidFill>
                <a:latin typeface="Aptos"/>
              </a:rPr>
              <a:t>vs Random, Heuristic &amp; AB-d4</a:t>
            </a:r>
          </a:p>
        </p:txBody>
      </p:sp>
      <p:sp>
        <p:nvSpPr>
          <p:cNvPr id="6" name="TextBox 5"/>
          <p:cNvSpPr txBox="1"/>
          <p:nvPr/>
        </p:nvSpPr>
        <p:spPr>
          <a:xfrm>
            <a:off x="8229598" y="2377440"/>
            <a:ext cx="3474720" cy="1463040"/>
          </a:xfrm>
          <a:prstGeom prst="rect">
            <a:avLst/>
          </a:prstGeom>
          <a:noFill/>
        </p:spPr>
        <p:txBody>
          <a:bodyPr wrap="square">
            <a:spAutoFit/>
          </a:bodyPr>
          <a:lstStyle/>
          <a:p>
            <a:pPr algn="ctr">
              <a:spcAft>
                <a:spcPts val="0"/>
              </a:spcAft>
            </a:pPr>
            <a:r>
              <a:rPr sz="4400" b="1">
                <a:solidFill>
                  <a:srgbClr val="6C3D91"/>
                </a:solidFill>
                <a:latin typeface="Aptos"/>
              </a:rPr>
              <a:t>10,000</a:t>
            </a:r>
          </a:p>
          <a:p>
            <a:pPr algn="ctr">
              <a:spcAft>
                <a:spcPts val="600"/>
              </a:spcAft>
            </a:pPr>
            <a:r>
              <a:rPr sz="1400" b="0">
                <a:solidFill>
                  <a:srgbClr val="525A60"/>
                </a:solidFill>
                <a:latin typeface="Aptos"/>
              </a:rPr>
              <a:t>self-play games</a:t>
            </a:r>
          </a:p>
        </p:txBody>
      </p:sp>
      <p:sp>
        <p:nvSpPr>
          <p:cNvPr id="7" name="TextBox 6"/>
          <p:cNvSpPr txBox="1"/>
          <p:nvPr/>
        </p:nvSpPr>
        <p:spPr>
          <a:xfrm>
            <a:off x="731520" y="4297680"/>
            <a:ext cx="10698480" cy="1097280"/>
          </a:xfrm>
          <a:prstGeom prst="rect">
            <a:avLst/>
          </a:prstGeom>
          <a:noFill/>
        </p:spPr>
        <p:txBody>
          <a:bodyPr wrap="square">
            <a:spAutoFit/>
          </a:bodyPr>
          <a:lstStyle/>
          <a:p>
            <a:pPr algn="ctr">
              <a:spcAft>
                <a:spcPts val="1000"/>
              </a:spcAft>
            </a:pPr>
            <a:r>
              <a:rPr sz="1500" b="0">
                <a:solidFill>
                  <a:srgbClr val="222222"/>
                </a:solidFill>
                <a:latin typeface="Aptos"/>
              </a:rPr>
              <a:t>Clear, quantitative evidence that performance improves with experience. Every result is reproducible from the logged data with one command.</a:t>
            </a:r>
          </a:p>
          <a:p>
            <a:pPr algn="ctr">
              <a:spcAft>
                <a:spcPts val="600"/>
              </a:spcAft>
            </a:pPr>
            <a:r>
              <a:rPr sz="1200" b="0">
                <a:solidFill>
                  <a:srgbClr val="00889C"/>
                </a:solidFill>
                <a:latin typeface="Aptos"/>
              </a:rPr>
              <a:t>python -m src.training.train --games 10000 --size 8 --benchmark alphabeta_d4</a:t>
            </a:r>
          </a:p>
        </p:txBody>
      </p:sp>
      <p:sp>
        <p:nvSpPr>
          <p:cNvPr id="8" name="TextBox 7"/>
          <p:cNvSpPr txBox="1"/>
          <p:nvPr/>
        </p:nvSpPr>
        <p:spPr>
          <a:xfrm>
            <a:off x="731520" y="5669280"/>
            <a:ext cx="10698480" cy="548640"/>
          </a:xfrm>
          <a:prstGeom prst="rect">
            <a:avLst/>
          </a:prstGeom>
          <a:noFill/>
        </p:spPr>
        <p:txBody>
          <a:bodyPr wrap="square">
            <a:spAutoFit/>
          </a:bodyPr>
          <a:lstStyle/>
          <a:p>
            <a:pPr algn="ctr">
              <a:spcAft>
                <a:spcPts val="600"/>
              </a:spcAft>
            </a:pPr>
            <a:r>
              <a:rPr sz="1600" b="1">
                <a:solidFill>
                  <a:srgbClr val="6C3D91"/>
                </a:solidFill>
                <a:latin typeface="Aptos"/>
              </a:rPr>
              <a:t>Thank you - questions welcome.</a:t>
            </a:r>
          </a:p>
        </p:txBody>
      </p:sp>
    </p:spTree>
  </p:cSld>
  <p:clrMapOvr>
    <a:masterClrMapping/>
  </p:clrMapOvr>
</p:sld>
</file>

<file path=ppt/theme/theme1.xml><?xml version="1.0" encoding="utf-8"?>
<a:theme xmlns:a="http://schemas.openxmlformats.org/drawingml/2006/main" name="Office Theme">
  <a:themeElements>
    <a:clrScheme name="NWU colors">
      <a:dk1>
        <a:srgbClr val="6C3D91"/>
      </a:dk1>
      <a:lt1>
        <a:sysClr val="window" lastClr="FFFFFF"/>
      </a:lt1>
      <a:dk2>
        <a:srgbClr val="00889C"/>
      </a:dk2>
      <a:lt2>
        <a:srgbClr val="78848E"/>
      </a:lt2>
      <a:accent1>
        <a:srgbClr val="5F439A"/>
      </a:accent1>
      <a:accent2>
        <a:srgbClr val="036F77"/>
      </a:accent2>
      <a:accent3>
        <a:srgbClr val="78848E"/>
      </a:accent3>
      <a:accent4>
        <a:srgbClr val="C9CDD1"/>
      </a:accent4>
      <a:accent5>
        <a:srgbClr val="B8F5FF"/>
      </a:accent5>
      <a:accent6>
        <a:srgbClr val="525A60"/>
      </a:accent6>
      <a:hlink>
        <a:srgbClr val="00889C"/>
      </a:hlink>
      <a:folHlink>
        <a:srgbClr val="5F439A"/>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NWU_PPT_07" id="{513CC988-A299-4A5D-9630-3F3A67E2EF10}" vid="{CD618A1F-5143-4359-AEDD-D125CCE698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14d86f1-83ba-4b13-a702-b5c0231b9337}" enabled="0" method="" siteId="{b14d86f1-83ba-4b13-a702-b5c0231b9337}" removed="1"/>
</clbl:labelList>
</file>

<file path=docProps/app.xml><?xml version="1.0" encoding="utf-8"?>
<Properties xmlns="http://schemas.openxmlformats.org/officeDocument/2006/extended-properties" xmlns:vt="http://schemas.openxmlformats.org/officeDocument/2006/docPropsVTypes">
  <Template/>
  <TotalTime>289</TotalTime>
  <Words>1719</Words>
  <Application>Microsoft Office PowerPoint</Application>
  <PresentationFormat>Widescreen</PresentationFormat>
  <Paragraphs>105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C_lines</vt:lpstr>
      <vt:lpstr>The game: C_lines on an 8×8 board</vt:lpstr>
      <vt:lpstr>The learning problem</vt:lpstr>
      <vt:lpstr>The algorithm: a self-play Deep Q-Network</vt:lpstr>
      <vt:lpstr>Three implementation choices that make it work</vt:lpstr>
      <vt:lpstr>Result: performance improves with experience</vt:lpstr>
      <vt:lpstr>The decisive test: beating a 4-ply search</vt:lpstr>
      <vt:lpstr>Critical analysis</vt:lpstr>
      <vt:lpstr>A self-play DQN learned an original board game, from a blank slate to out-playing a 4-ply search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Tshegofatso Lekabye</dc:creator>
  <cp:lastModifiedBy>colile s</cp:lastModifiedBy>
  <cp:revision>18</cp:revision>
  <dcterms:created xsi:type="dcterms:W3CDTF">2025-02-04T06:41:40Z</dcterms:created>
  <dcterms:modified xsi:type="dcterms:W3CDTF">2026-06-07T18:28:50Z</dcterms:modified>
</cp:coreProperties>
</file>