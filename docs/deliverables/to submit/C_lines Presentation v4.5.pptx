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29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47732" autoAdjust="0"/>
  </p:normalViewPr>
  <p:slideViewPr>
    <p:cSldViewPr snapToGrid="0">
      <p:cViewPr varScale="1">
        <p:scale>
          <a:sx n="45" d="100"/>
          <a:sy n="45" d="100"/>
        </p:scale>
        <p:origin x="18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364866-28D4-4310-B739-16EF75826107}" type="datetimeFigureOut">
              <a:rPr lang="en-ZA" smtClean="0"/>
              <a:t>2026/06/07</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EC6A1-3945-41FA-B35C-DC046965E0C6}" type="slidenum">
              <a:rPr lang="en-ZA" smtClean="0"/>
              <a:t>‹#›</a:t>
            </a:fld>
            <a:endParaRPr lang="en-ZA"/>
          </a:p>
        </p:txBody>
      </p:sp>
    </p:spTree>
    <p:extLst>
      <p:ext uri="{BB962C8B-B14F-4D97-AF65-F5344CB8AC3E}">
        <p14:creationId xmlns:p14="http://schemas.microsoft.com/office/powerpoint/2010/main" val="3760086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  |  ~22s  |  running 0:22]</a:t>
            </a:r>
          </a:p>
          <a:p>
            <a:pPr marL="0" marR="0" lvl="0" indent="0" algn="l" defTabSz="914400" rtl="0" eaLnBrk="1" fontAlgn="auto" latinLnBrk="0" hangingPunct="1">
              <a:lnSpc>
                <a:spcPct val="100000"/>
              </a:lnSpc>
              <a:spcBef>
                <a:spcPts val="0"/>
              </a:spcBef>
              <a:spcAft>
                <a:spcPts val="0"/>
              </a:spcAft>
              <a:buClrTx/>
              <a:buSzTx/>
              <a:buFontTx/>
              <a:buNone/>
              <a:tabLst/>
              <a:defRPr/>
            </a:pPr>
            <a:r>
              <a:rPr dirty="0"/>
              <a:t>Note: full read is about 6 minutes. Sentences marked [OPTIONAL] can be cut to come in under 5 minutes.</a:t>
            </a:r>
            <a:br>
              <a:rPr lang="en-ZA" dirty="0"/>
            </a:br>
            <a:br>
              <a:rPr lang="en-ZA" dirty="0"/>
            </a:br>
            <a:r>
              <a:rPr lang="en-ZA" dirty="0"/>
              <a:t>Good day . </a:t>
            </a:r>
            <a:br>
              <a:rPr lang="en-ZA" dirty="0"/>
            </a:br>
            <a:br>
              <a:rPr lang="en-ZA" dirty="0"/>
            </a:br>
            <a:br>
              <a:rPr lang="en-ZA" dirty="0"/>
            </a:br>
            <a:r>
              <a:rPr lang="en-ZA" dirty="0"/>
              <a:t>For AI project I built a </a:t>
            </a:r>
            <a:r>
              <a:rPr lang="en-ZA" dirty="0" err="1"/>
              <a:t>C_Line</a:t>
            </a:r>
            <a:r>
              <a:rPr lang="en-ZA" dirty="0"/>
              <a:t> game. </a:t>
            </a:r>
            <a:br>
              <a:rPr lang="en-ZA" dirty="0"/>
            </a:br>
            <a:r>
              <a:rPr lang="en-ZA" dirty="0"/>
              <a:t>This is a 2 player game that you can play against a friend or against the AI agent that I trained to play. </a:t>
            </a:r>
            <a:br>
              <a:rPr lang="en-ZA" dirty="0"/>
            </a:br>
            <a:r>
              <a:rPr lang="en-ZA" dirty="0"/>
              <a:t>In this presentation I am going to explain the game rules, how I built agent, defining the problem, </a:t>
            </a:r>
            <a:r>
              <a:rPr lang="en-ZA" dirty="0" err="1"/>
              <a:t>algothm</a:t>
            </a:r>
            <a:r>
              <a:rPr lang="en-ZA" dirty="0"/>
              <a:t> and results. </a:t>
            </a:r>
            <a:br>
              <a:rPr lang="en-ZA" dirty="0"/>
            </a:br>
            <a:br>
              <a:rPr lang="en-ZA" dirty="0"/>
            </a:br>
            <a:br>
              <a:rPr lang="en-ZA" dirty="0"/>
            </a:br>
            <a:br>
              <a:rPr lang="en-ZA" dirty="0"/>
            </a:br>
            <a:r>
              <a:rPr lang="en-US" dirty="0"/>
              <a:t>Hi. This project is </a:t>
            </a:r>
            <a:r>
              <a:rPr lang="en-US" dirty="0" err="1"/>
              <a:t>C_lines</a:t>
            </a:r>
            <a:r>
              <a:rPr lang="en-US" dirty="0"/>
              <a:t>, an original two-player board game I designed, and an agent that learns to play it well entirely by playing against itself. In the next few minutes I'll cover three things: the problem, the algorithm, and the evidence that the agent improves with experience.</a:t>
            </a:r>
          </a:p>
          <a:p>
            <a:endParaRPr dirty="0"/>
          </a:p>
          <a:p>
            <a:endParaRPr dirty="0"/>
          </a:p>
          <a:p>
            <a:r>
              <a:rPr dirty="0"/>
              <a:t>Hi. This project is </a:t>
            </a:r>
            <a:r>
              <a:rPr dirty="0" err="1"/>
              <a:t>C_lines</a:t>
            </a:r>
            <a:r>
              <a:rPr dirty="0"/>
              <a:t>, an original two-player board game I designed, and an agent that learns to play it well entirely by playing against itself. On screen is the game I built; you can play against the trained agent or in hot-seat mode. In the next few minutes I'll cover the problem, the algorithm, the evidence that it improves with experience, and a short critical analysis.</a:t>
            </a:r>
          </a:p>
        </p:txBody>
      </p:sp>
      <p:sp>
        <p:nvSpPr>
          <p:cNvPr id="4" name="Slide Number Placeholder 3"/>
          <p:cNvSpPr>
            <a:spLocks noGrp="1"/>
          </p:cNvSpPr>
          <p:nvPr>
            <p:ph type="sldNum" sz="quarter" idx="5"/>
          </p:nvPr>
        </p:nvSpPr>
        <p:spPr/>
        <p:txBody>
          <a:bodyPr/>
          <a:lstStyle/>
          <a:p>
            <a:fld id="{AFEEC6A1-3945-41FA-B35C-DC046965E0C6}" type="slidenum">
              <a:rPr lang="en-ZA" smtClean="0"/>
              <a:t>1</a:t>
            </a:fld>
            <a:endParaRPr lang="en-ZA"/>
          </a:p>
        </p:txBody>
      </p:sp>
    </p:spTree>
    <p:extLst>
      <p:ext uri="{BB962C8B-B14F-4D97-AF65-F5344CB8AC3E}">
        <p14:creationId xmlns:p14="http://schemas.microsoft.com/office/powerpoint/2010/main" val="324656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  |  ~48s  |  running 1:10]</a:t>
            </a:r>
          </a:p>
          <a:p>
            <a:r>
              <a:rPr dirty="0" err="1"/>
              <a:t>C_lines</a:t>
            </a:r>
            <a:r>
              <a:rPr dirty="0"/>
              <a:t> is played on an eight-by-eight board. Players take turns placing one stone on any empty cell; there's no gravity and no column rule, you can play anywhere. Play continues until the board is full, sixty-four stones. You score for straight lines of your own stones in any direction, and longer lines are worth disproportionately more, a line of three is a quarter point, scaling up to five points for a line of eight. Highest total score when the board fills wins. On the right are two screenshots from the actual game: the top is a training session running, and the bottom is a finished game, where Player 1 won seven point seven five to seven, which is how a points game is decided. </a:t>
            </a:r>
          </a:p>
        </p:txBody>
      </p:sp>
      <p:sp>
        <p:nvSpPr>
          <p:cNvPr id="4" name="Slide Number Placeholder 3"/>
          <p:cNvSpPr>
            <a:spLocks noGrp="1"/>
          </p:cNvSpPr>
          <p:nvPr>
            <p:ph type="sldNum" sz="quarter" idx="5"/>
          </p:nvPr>
        </p:nvSpPr>
        <p:spPr/>
        <p:txBody>
          <a:bodyPr/>
          <a:lstStyle/>
          <a:p>
            <a:fld id="{AFEEC6A1-3945-41FA-B35C-DC046965E0C6}" type="slidenum">
              <a:rPr lang="en-ZA" smtClean="0"/>
              <a:t>2</a:t>
            </a:fld>
            <a:endParaRPr lang="en-ZA"/>
          </a:p>
        </p:txBody>
      </p:sp>
    </p:spTree>
    <p:extLst>
      <p:ext uri="{BB962C8B-B14F-4D97-AF65-F5344CB8AC3E}">
        <p14:creationId xmlns:p14="http://schemas.microsoft.com/office/powerpoint/2010/main" val="782546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  |  ~62s  |  running 2:12]</a:t>
            </a:r>
            <a:br>
              <a:rPr lang="en-ZA" dirty="0"/>
            </a:br>
            <a:br>
              <a:rPr lang="en-ZA" dirty="0"/>
            </a:br>
            <a:br>
              <a:rPr lang="en-ZA" dirty="0"/>
            </a:br>
            <a:r>
              <a:rPr lang="en-ZA" dirty="0"/>
              <a:t>I built the agent to win the to have game to win the game with as large point differential as possible. In this fully observable environment where in each turn of the agent’s turns it can see the board state, where the pieces are and the current points table. Its task is to choose the move that maximises the final score margin between the agent and its opponent. </a:t>
            </a:r>
            <a:br>
              <a:rPr lang="en-ZA" dirty="0"/>
            </a:br>
            <a:br>
              <a:rPr lang="en-ZA" dirty="0"/>
            </a:br>
            <a:r>
              <a:rPr lang="en-ZA" dirty="0"/>
              <a:t> </a:t>
            </a:r>
            <a:br>
              <a:rPr lang="en-ZA" dirty="0"/>
            </a:br>
            <a:r>
              <a:rPr lang="en-ZA" dirty="0"/>
              <a:t>The </a:t>
            </a:r>
            <a:r>
              <a:rPr lang="en-ZA" b="1" dirty="0"/>
              <a:t>experience</a:t>
            </a:r>
            <a:r>
              <a:rPr lang="en-ZA" dirty="0"/>
              <a:t> comes from gameplay. Playing  against random and heuristic opponents to develop basic skills, and later spends most of its time playing against itself and previously saved versions of itself. .</a:t>
            </a:r>
            <a:br>
              <a:rPr lang="en-ZA" dirty="0"/>
            </a:br>
            <a:br>
              <a:rPr lang="en-ZA" dirty="0"/>
            </a:br>
            <a:br>
              <a:rPr lang="en-ZA" dirty="0"/>
            </a:br>
            <a:r>
              <a:rPr lang="en-ZA" b="1" dirty="0"/>
              <a:t>performance</a:t>
            </a:r>
            <a:r>
              <a:rPr lang="en-ZA" dirty="0"/>
              <a:t> is measured using four independent metrics: win rate against a random opponent, win rate against a heuristic opponent, an Elo rating, and performance against an Alpha-Beta search player.</a:t>
            </a:r>
            <a:br>
              <a:rPr lang="en-ZA" dirty="0"/>
            </a:br>
            <a:br>
              <a:rPr lang="en-ZA" dirty="0"/>
            </a:br>
            <a:br>
              <a:rPr lang="en-ZA" dirty="0"/>
            </a:br>
            <a:br>
              <a:rPr lang="en-ZA" dirty="0"/>
            </a:br>
            <a:br>
              <a:rPr lang="en-ZA" dirty="0"/>
            </a:br>
            <a:br>
              <a:rPr lang="en-ZA" dirty="0"/>
            </a:br>
            <a:endParaRPr dirty="0"/>
          </a:p>
          <a:p>
            <a:r>
              <a:rPr dirty="0"/>
              <a:t>I framed this with Mitchell's Task, Experience, and Performance structure.</a:t>
            </a:r>
          </a:p>
          <a:p>
            <a:r>
              <a:rPr dirty="0"/>
              <a:t>The Task: given a board, choose the placement that </a:t>
            </a:r>
            <a:r>
              <a:rPr dirty="0" err="1"/>
              <a:t>maximises</a:t>
            </a:r>
            <a:r>
              <a:rPr dirty="0"/>
              <a:t> my final score margin, my score minus my opponent's. In category terms it's sequential decision-making and control, not classification and not prediction, because the agent has to act and its actions decide the outcome.</a:t>
            </a:r>
          </a:p>
          <a:p>
            <a:r>
              <a:rPr dirty="0"/>
              <a:t>The Experience is the heart of the design. The agent learns from four kinds of opponent, each for a different reason. Against a random opponent it sees a wide variety of positions, which builds basic competence and stops it overfitting to one style. Against the rule-based heuristic, which takes a winning four-in-a-row if it can, otherwise blocks the opponent's, otherwise just extends its own longest line, it is forced to learn real blocking and line-building. It also plays copies of itself at its current strength, which gives balanced, sharp games, and it plays frozen snapshots of its earlier selves from a growing pool, so it never forgets how to beat older strategies and always has an opponent near its own level, a curriculum that rises automatically. [OPTIONAL: The random and heuristic games dominate early to seed good habits; self-play and snapshots take over later to keep pushing the ceiling.]</a:t>
            </a:r>
          </a:p>
          <a:p>
            <a:r>
              <a:rPr dirty="0"/>
              <a:t>Performance is tracked four ways, every hundred games: win rate against random, against the heuristic, an Elo rating, and win rate against a four-ply alpha-beta search.</a:t>
            </a:r>
          </a:p>
        </p:txBody>
      </p:sp>
      <p:sp>
        <p:nvSpPr>
          <p:cNvPr id="4" name="Slide Number Placeholder 3"/>
          <p:cNvSpPr>
            <a:spLocks noGrp="1"/>
          </p:cNvSpPr>
          <p:nvPr>
            <p:ph type="sldNum" sz="quarter" idx="5"/>
          </p:nvPr>
        </p:nvSpPr>
        <p:spPr/>
        <p:txBody>
          <a:bodyPr/>
          <a:lstStyle/>
          <a:p>
            <a:fld id="{AFEEC6A1-3945-41FA-B35C-DC046965E0C6}" type="slidenum">
              <a:rPr lang="en-ZA" smtClean="0"/>
              <a:t>3</a:t>
            </a:fld>
            <a:endParaRPr lang="en-ZA"/>
          </a:p>
        </p:txBody>
      </p:sp>
    </p:spTree>
    <p:extLst>
      <p:ext uri="{BB962C8B-B14F-4D97-AF65-F5344CB8AC3E}">
        <p14:creationId xmlns:p14="http://schemas.microsoft.com/office/powerpoint/2010/main" val="1191225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4  |  ~46s  |  running 2:58]</a:t>
            </a:r>
          </a:p>
          <a:p>
            <a:r>
              <a:rPr dirty="0"/>
              <a:t>The algorithm is a Deep Q-Network,</a:t>
            </a:r>
            <a:r>
              <a:rPr lang="en-ZA" dirty="0"/>
              <a:t> </a:t>
            </a:r>
            <a:r>
              <a:rPr dirty="0"/>
              <a:t>which is value-based reinforcement learning. </a:t>
            </a:r>
            <a:r>
              <a:rPr lang="en-ZA" dirty="0"/>
              <a:t>It is a </a:t>
            </a:r>
            <a:r>
              <a:rPr dirty="0"/>
              <a:t>neural network estimates the value of each possible move, and the agent plays the highest-valued legal cell. The board goes in as a ten-channel image: </a:t>
            </a:r>
            <a:r>
              <a:rPr lang="en-ZA" dirty="0"/>
              <a:t>its</a:t>
            </a:r>
            <a:r>
              <a:rPr dirty="0"/>
              <a:t> stones, the opponent's stones, empty cells, and tactical layers such as where my open three-in-a-rows are. The network is a residual convolutional neural network</a:t>
            </a:r>
            <a:r>
              <a:rPr lang="en-ZA" dirty="0"/>
              <a:t>.</a:t>
            </a:r>
            <a:br>
              <a:rPr lang="en-ZA" dirty="0"/>
            </a:br>
            <a:r>
              <a:rPr lang="en-ZA" dirty="0"/>
              <a:t> I chose because it</a:t>
            </a:r>
            <a:r>
              <a:rPr dirty="0"/>
              <a:t> is well suited to spotting line patterns. </a:t>
            </a:r>
            <a:br>
              <a:rPr lang="en-ZA" dirty="0"/>
            </a:br>
            <a:r>
              <a:rPr dirty="0"/>
              <a:t>I chose a Deep Q-Network because this is sequential control with delayed reward, a move's true value only emerges when the board fills, and because there are no labelled correct moves</a:t>
            </a:r>
            <a:r>
              <a:rPr lang="en-ZA" dirty="0"/>
              <a:t> </a:t>
            </a:r>
            <a:r>
              <a:rPr dirty="0"/>
              <a:t>supervised learning doesn't apply.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5  |  ~37s  |  running 3:35]</a:t>
            </a:r>
          </a:p>
          <a:p>
            <a:br>
              <a:rPr lang="en-ZA" dirty="0"/>
            </a:br>
            <a:br>
              <a:rPr lang="en-ZA" dirty="0"/>
            </a:br>
            <a:r>
              <a:rPr lang="en-ZA" b="1" dirty="0"/>
              <a:t>One, getting the sign right.</a:t>
            </a:r>
            <a:r>
              <a:rPr lang="en-ZA" dirty="0"/>
              <a:t> The agent rates a move by picturing the board straight after it plays. But that next turn belongs to my opponent, so the board is being judged from their side, and a position that is great for them is bad for me. So the agent has to </a:t>
            </a:r>
            <a:r>
              <a:rPr lang="en-ZA" i="1" dirty="0"/>
              <a:t>subtract</a:t>
            </a:r>
            <a:r>
              <a:rPr lang="en-ZA" dirty="0"/>
              <a:t> that value, not add it. It sounds tiny, but if you add it the agent chases moves that help its opponent. In a two-player game like </a:t>
            </a:r>
            <a:r>
              <a:rPr lang="en-ZA" dirty="0" err="1"/>
              <a:t>C_lines</a:t>
            </a:r>
            <a:r>
              <a:rPr lang="en-ZA" dirty="0"/>
              <a:t> this is the most important thing to get right.</a:t>
            </a:r>
          </a:p>
          <a:p>
            <a:r>
              <a:rPr lang="en-ZA" b="1" dirty="0"/>
              <a:t>Two, keeping the learning steady.</a:t>
            </a:r>
            <a:r>
              <a:rPr lang="en-ZA" dirty="0"/>
              <a:t> This kind of agent tends to over-trust its own best guesses, and that can make it grow strong and then suddenly fall apart late in training. I fix this two ways: one copy of the network chooses the move and a separate copy scores it, so it checks its own optimism; and I measure its mistakes in a way that ignores the occasional wild outlier. Together these stop it from collapsing.</a:t>
            </a:r>
          </a:p>
          <a:p>
            <a:r>
              <a:rPr lang="en-ZA" b="1" dirty="0"/>
              <a:t>Three, free practice from symmetry.</a:t>
            </a:r>
            <a:r>
              <a:rPr lang="en-ZA" dirty="0"/>
              <a:t> A </a:t>
            </a:r>
            <a:r>
              <a:rPr lang="en-ZA" dirty="0" err="1"/>
              <a:t>C_lines</a:t>
            </a:r>
            <a:r>
              <a:rPr lang="en-ZA" dirty="0"/>
              <a:t> board plays exactly the same if you rotate or mirror it — the strategy doesn't change. So every game I play can be turned into eight versions, and the agent gets eight times the practice from the same number of games. [OPTIONAL: And every thousand games I freeze a copy of the agent and register it as a playable difficulty level.]</a:t>
            </a:r>
          </a:p>
          <a:p>
            <a:br>
              <a:rPr lang="en-ZA" dirty="0"/>
            </a:br>
            <a:br>
              <a:rPr lang="en-ZA" dirty="0"/>
            </a:br>
            <a:br>
              <a:rPr lang="en-ZA" dirty="0"/>
            </a:br>
            <a:br>
              <a:rPr lang="en-ZA" dirty="0"/>
            </a:br>
            <a:br>
              <a:rPr lang="en-ZA" dirty="0"/>
            </a:br>
            <a:br>
              <a:rPr lang="en-ZA" dirty="0"/>
            </a:br>
            <a:br>
              <a:rPr lang="en-ZA" dirty="0"/>
            </a:br>
            <a:r>
              <a:rPr dirty="0"/>
              <a:t>Three choices made it work. First, the </a:t>
            </a:r>
            <a:r>
              <a:rPr dirty="0" err="1"/>
              <a:t>negamax</a:t>
            </a:r>
            <a:r>
              <a:rPr dirty="0"/>
              <a:t> value target: because the next position belongs to my opponent, its value is subtracted, not added. That is the single most important correctness detail in two-player value learning. Second, Double Deep Q-Network updates and a Huber loss keep the value estimates stable and prevent the late-training collapse that plain Deep Q-Networks suffer. Third, I exploit the board's eight-fold symmetry, every position is also seven rotations and reflections, which multiplies the training data for free. [OPTIONAL: And every thousand games I freeze a snapshot and register it as a playable difficulty level.]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6  |  ~57s  |  running 4:32]</a:t>
            </a:r>
          </a:p>
          <a:p>
            <a:br>
              <a:rPr lang="en-ZA" dirty="0"/>
            </a:br>
            <a:r>
              <a:rPr lang="en-ZA" dirty="0"/>
              <a:t>This slide shows the overall learning trajectory across ten thousand self-play games.</a:t>
            </a:r>
          </a:p>
          <a:p>
            <a:r>
              <a:rPr lang="en-ZA" dirty="0"/>
              <a:t>The simplest metrics are the win rates against the random and heuristic opponents. Both increase steadily from roughly fifty percent at the beginning of training to one hundred percent by the end.</a:t>
            </a:r>
          </a:p>
          <a:p>
            <a:r>
              <a:rPr lang="en-ZA" dirty="0"/>
              <a:t>Once win rates reach one hundred percent, they can no longer distinguish between a good agent and an even better one. For that reason, the most informative metric is the Elo rating shown by the purple curve.</a:t>
            </a:r>
          </a:p>
          <a:p>
            <a:r>
              <a:rPr lang="en-ZA" dirty="0"/>
              <a:t>Elo measures relative playing strength by comparing performance against fixed reference opponents. Because those opponents never improve, any increase in Elo reflects a genuine improvement in the agent itself.</a:t>
            </a:r>
          </a:p>
          <a:p>
            <a:r>
              <a:rPr lang="en-ZA" dirty="0"/>
              <a:t>Across training, the agent's Elo rises from 796 to 1190 without any significant collapse, providing strong evidence that performance improves with experience.</a:t>
            </a:r>
          </a:p>
          <a:p>
            <a:r>
              <a:rPr lang="en-ZA" dirty="0"/>
              <a:t>But beating familiar opponents is not enough. To demonstrate real learning, the agent must also succeed against opponents it never encountered during training.</a:t>
            </a:r>
          </a:p>
          <a:p>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r>
              <a:rPr dirty="0"/>
              <a:t>Here's the core result, one run of ten thousand games. Win rate against random and against the heuristic both climb from about half to a hundred percent. The headline is the Elo rating, the purple curve, so let me explain how that is assigned, since it's the main metric. Elo is the rating idea from chess: you gain points for beating a higher-rated opponent and lose points for losing to a lower-rated one. I gave the reference opponents fixed ratings, random at six hundred, the heuristic at nine hundred, and the alpha-beta search at twelve hundred, and I started the agent at eight hundred. Every hundred games the agent plays twenty games against each fixed-rating opponent, and its rating is nudged up or down by the standard Elo formula based on how it scored. Because those reference opponents never improve, the agent's rating rises only when it genuinely beats them by more, here monotonically from 796 to 1190, with no collapse. [OPTIONAL: It also keeps measuring progress after the raw win rates have maxed out at a hundred percent.]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7  |  ~30s  |  running 5:02]</a:t>
            </a:r>
          </a:p>
          <a:p>
            <a:br>
              <a:rPr lang="en-ZA" dirty="0"/>
            </a:br>
            <a:br>
              <a:rPr lang="en-ZA" dirty="0"/>
            </a:br>
            <a:r>
              <a:rPr lang="en-ZA" dirty="0"/>
              <a:t>The agent was tested against a depth-four Alpha-Beta search player, a classical search algorithm that it never faced during training.</a:t>
            </a:r>
          </a:p>
          <a:p>
            <a:r>
              <a:rPr lang="en-ZA" dirty="0"/>
              <a:t>Early in training, the agent struggled. It won only about nineteen percent of games and typically lost by a measurable score margin.</a:t>
            </a:r>
          </a:p>
          <a:p>
            <a:r>
              <a:rPr lang="en-ZA" dirty="0"/>
              <a:t>By the end of training, the picture had completely changed. The win rate approached one hundred percent, and the average score margin became positive.</a:t>
            </a:r>
          </a:p>
          <a:p>
            <a:r>
              <a:rPr lang="en-ZA" dirty="0"/>
              <a:t>This result matters because it demonstrates generalisation rather than memorisation. The agent was not simply learning how to defeat a fixed training opponent. Instead, it acquired strategies that transferred successfully to an independent search-based player.</a:t>
            </a:r>
          </a:p>
          <a:p>
            <a:br>
              <a:rPr lang="en-ZA" dirty="0"/>
            </a:br>
            <a:br>
              <a:rPr lang="en-ZA" dirty="0"/>
            </a:br>
            <a:br>
              <a:rPr lang="en-ZA" dirty="0"/>
            </a:br>
            <a:br>
              <a:rPr lang="en-ZA" dirty="0"/>
            </a:br>
            <a:br>
              <a:rPr lang="en-ZA" dirty="0"/>
            </a:br>
            <a:br>
              <a:rPr lang="en-ZA" dirty="0"/>
            </a:br>
            <a:br>
              <a:rPr lang="en-ZA" dirty="0"/>
            </a:br>
            <a:br>
              <a:rPr lang="en-ZA" dirty="0"/>
            </a:br>
            <a:r>
              <a:rPr dirty="0"/>
              <a:t>The strongest evidence is against the alpha-beta search, a classical look-ahead search to depth four that the agent never trains against. Early on it wins about nineteen percent and loses on score, by an average margin of minus zero point eight three. By the end it wins essentially a hundred percent, and the score margin flips to plus one point one seven. Winning by a margin against an independent search it cannot have </a:t>
            </a:r>
            <a:r>
              <a:rPr dirty="0" err="1"/>
              <a:t>memorised</a:t>
            </a:r>
            <a:r>
              <a:rPr dirty="0"/>
              <a:t>, the move tree is far too large, means the agent genuinely </a:t>
            </a:r>
            <a:r>
              <a:rPr dirty="0" err="1"/>
              <a:t>generalised</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8  |  ~38s  |  running 5:40]</a:t>
            </a:r>
          </a:p>
          <a:p>
            <a:br>
              <a:rPr lang="en-ZA" dirty="0"/>
            </a:br>
            <a:r>
              <a:rPr lang="en-ZA" dirty="0"/>
              <a:t>The residual convolutional architecture is well matched to the game's spatial structure. It can recognise local patterns and tactical opportunities efficiently.</a:t>
            </a:r>
          </a:p>
          <a:p>
            <a:br>
              <a:rPr lang="en-ZA" dirty="0"/>
            </a:br>
            <a:r>
              <a:rPr lang="en-ZA" dirty="0"/>
              <a:t>Using multiple performance measures provides a more complete picture than relying on win rate alone. Once win rates saturated, Elo continued to reveal meaningful improvements.</a:t>
            </a:r>
          </a:p>
          <a:p>
            <a:r>
              <a:rPr lang="en-ZA" dirty="0"/>
              <a:t>There are also opportunities for future work. Running multiple training seeds would provide stronger statistical confidence,. </a:t>
            </a:r>
            <a:br>
              <a:rPr lang="en-ZA" dirty="0"/>
            </a:br>
            <a:br>
              <a:rPr lang="en-ZA" dirty="0"/>
            </a:br>
            <a:br>
              <a:rPr lang="en-ZA" dirty="0"/>
            </a:br>
            <a:br>
              <a:rPr lang="en-ZA" dirty="0"/>
            </a:br>
            <a:br>
              <a:rPr lang="en-ZA" dirty="0"/>
            </a:br>
            <a:r>
              <a:rPr dirty="0"/>
              <a:t>A critical look, in four parts. The model: the residual network matches local line patterns, and the tactical input channels free it to weigh threats rather than relearn the rules. The method: the </a:t>
            </a:r>
            <a:r>
              <a:rPr dirty="0" err="1"/>
              <a:t>negamax</a:t>
            </a:r>
            <a:r>
              <a:rPr dirty="0"/>
              <a:t> target keeps the value function coherent, and the stability choices explain the smooth, collapse-free convergence. The results: the win rates saturate at a hundred percent, which is why I lean on the Elo rating, and the noise between individual checkpoints is why a single curve is more trustworthy than any one point. [OPTIONAL: To improve, I would repeat the run across several random seeds for confidence bands, use multi-step returns, and add a Monte-Carlo Tree Search policy head in the style of AlphaZero.]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9  |  ~22s  |  running 6:02]</a:t>
            </a:r>
          </a:p>
          <a:p>
            <a:br>
              <a:rPr lang="en-ZA" dirty="0"/>
            </a:br>
            <a:r>
              <a:rPr lang="en-ZA" dirty="0"/>
              <a:t>this project demonstrates that a self-play Deep Q-Network can learn a completely original board game from scratch.</a:t>
            </a:r>
          </a:p>
          <a:p>
            <a:r>
              <a:rPr lang="en-ZA" dirty="0"/>
              <a:t>Starting with no knowledge of strategy, the agent improved through experience alone, achieving an Elo rating of 1190, consistently defeating all fixed benchmark opponents, and ultimately outperforming a depth-four Alpha-Beta search player that it never encountered during training.</a:t>
            </a:r>
          </a:p>
          <a:p>
            <a:br>
              <a:rPr lang="en-ZA" dirty="0"/>
            </a:br>
            <a:r>
              <a:rPr lang="en-ZA" dirty="0"/>
              <a:t>Taken together, these results provide clear evidence that performance improved with experience, which is the central objective of machine learning.</a:t>
            </a:r>
          </a:p>
          <a:p>
            <a:br>
              <a:rPr lang="en-ZA" dirty="0"/>
            </a:br>
            <a:r>
              <a:rPr dirty="0"/>
              <a:t>Thank you for watching.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BC08-E79F-7040-8CD7-D268FC775E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5FC8C9-99D9-903D-CE6E-DBBD5E993D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1BD387-1BA8-9074-AF7A-AFC937A7D164}"/>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07087864-6017-99C9-D994-0EEEA1A2B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11324-82A9-53C8-45EF-CED24C310BB7}"/>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3728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CB43-D14B-4843-9B76-A82E1BB78B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CDC29-78C2-0A1D-3ED7-91EB9F80CC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6B6E4-F0A6-ACAC-C0BD-84B01C1DC226}"/>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B50376E1-1CF8-19E0-A1BC-093BEED3B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83F3D-FDA2-88DE-1521-369D662919CB}"/>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449296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B91E-719A-7A87-755C-9BD5D844E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0E143A-A9ED-6267-246E-D57FC0ACB5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99E1C-822B-45B4-8D55-D910A0529E29}"/>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D997498-D67B-3C6A-6C2F-7A3B3CACB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B7EBA-B7CE-1FE5-714E-E0AC9F7EB53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95879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845B-00D3-86C3-A83D-DD0E4A8F0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6BEC6-C4E4-B2BE-1B8E-4F5BC81CDF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2A034F-85C0-F2F7-B6C3-81787945E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4C82D-CFF1-FEEC-88E1-D829B77098A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C8EDB3A4-CA03-1344-6ECC-76A48C66F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03E8E-01FE-EFB4-3EBC-E6D96484969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632624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36D0-FF12-66A5-8D1E-3F85111819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11D6AB-B92D-33A9-EB86-D23A4267E7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C2AB5F-819F-836E-2107-961FA06CF5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488996-99C7-BA1D-3722-CE3AFDB03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68B816-6A4D-B432-3763-465301B647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959120-386C-E7C6-2422-29C0706458FA}"/>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8" name="Footer Placeholder 7">
            <a:extLst>
              <a:ext uri="{FF2B5EF4-FFF2-40B4-BE49-F238E27FC236}">
                <a16:creationId xmlns:a16="http://schemas.microsoft.com/office/drawing/2014/main" id="{F2A0B9E5-F780-748E-A4B4-C6426D85AC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129619-C47A-6E28-690D-573DFD1B441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51807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60B4-53A7-8A5E-81B4-F1FB79D107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F1918C-E9B7-EBFA-BEC0-CAFFF9B2154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4" name="Footer Placeholder 3">
            <a:extLst>
              <a:ext uri="{FF2B5EF4-FFF2-40B4-BE49-F238E27FC236}">
                <a16:creationId xmlns:a16="http://schemas.microsoft.com/office/drawing/2014/main" id="{E9D67FE0-E94F-8718-4641-50EB277124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FA0CD1-0E05-CBD8-D7F8-84D5BFDA220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908071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738A3-534C-E327-546D-296D3E06F07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3" name="Footer Placeholder 2">
            <a:extLst>
              <a:ext uri="{FF2B5EF4-FFF2-40B4-BE49-F238E27FC236}">
                <a16:creationId xmlns:a16="http://schemas.microsoft.com/office/drawing/2014/main" id="{785C59B8-2111-125D-9E4B-71DDAF8E6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F5AC02-681C-AAB4-A3DC-00ABE8FAD89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014806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6650-2894-1352-8A55-0C1235469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65DE14-2C37-6EEC-01D2-51CA238559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977555-CD7D-7D54-9586-E2B279723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F9366-C4F7-0F80-96C9-C337F79EAE51}"/>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B9A2F07B-3ECB-0BDC-370C-A25485DB4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0014D-B500-2A8D-025F-E8A5D17DC96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56615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A881-6D96-61B9-96AD-70118D3F10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48AD0-AF13-3E5A-EABA-F8F1F4ACC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E6730E-9437-89A7-58A8-1AAF9F5CB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A682F-63F3-A2CD-78A0-01856CEC99B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96DFCEFE-9AED-C52A-51E1-90A2CE3A0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B7724-378C-1763-684D-B1174953029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23889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85DE-9AB3-3792-2A2B-F0FEA95094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564B1-18FF-BB19-9B40-76A62803E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FB277-24A9-6259-3B9C-873CC0628405}"/>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91B150F-B42C-7F72-163C-1024DFAFE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D1D55-221F-11DD-E535-9ABCD47A4C23}"/>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9160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19572-B251-3B55-BDFF-5A4C4BCD20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4B3B1C-3D52-773B-2BC9-7CAF85219C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67C81-BBC4-12F2-4C69-371781F33DC0}"/>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1861973A-A739-5D01-18CD-77EA80860C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65F69-913C-121A-5966-DFE44F835252}"/>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433308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2127D-5057-8E18-F077-6C4F91023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6024-E2D4-7197-43DB-056A0DACB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391EA-DE72-D3B7-7B8E-3449D1BDB5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3458A575-6B96-8A47-35F3-66CAA1053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7DED54-49D8-6C4D-4EBA-D237BC79F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CF79A-2F49-45EB-A148-F0BEDE4BEE5A}" type="slidenum">
              <a:rPr lang="en-US" smtClean="0"/>
              <a:t>‹#›</a:t>
            </a:fld>
            <a:endParaRPr lang="en-US"/>
          </a:p>
        </p:txBody>
      </p:sp>
    </p:spTree>
    <p:extLst>
      <p:ext uri="{BB962C8B-B14F-4D97-AF65-F5344CB8AC3E}">
        <p14:creationId xmlns:p14="http://schemas.microsoft.com/office/powerpoint/2010/main" val="427463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2903BF-5759-2920-D4BA-D604B006BA1C}"/>
              </a:ext>
            </a:extLst>
          </p:cNvPr>
          <p:cNvPicPr>
            <a:picLocks noChangeAspect="1"/>
          </p:cNvPicPr>
          <p:nvPr/>
        </p:nvPicPr>
        <p:blipFill>
          <a:blip r:embed="rId5"/>
          <a:srcRect l="16865" t="13944" r="24645" b="26375"/>
          <a:stretch>
            <a:fillRect/>
          </a:stretch>
        </p:blipFill>
        <p:spPr>
          <a:xfrm>
            <a:off x="3238004" y="1756705"/>
            <a:ext cx="6016892" cy="4092909"/>
          </a:xfrm>
          <a:prstGeom prst="rect">
            <a:avLst/>
          </a:prstGeom>
        </p:spPr>
      </p:pic>
      <p:sp>
        <p:nvSpPr>
          <p:cNvPr id="2" name="Title 1"/>
          <p:cNvSpPr>
            <a:spLocks noGrp="1"/>
          </p:cNvSpPr>
          <p:nvPr>
            <p:ph type="ctrTitle"/>
          </p:nvPr>
        </p:nvSpPr>
        <p:spPr>
          <a:xfrm>
            <a:off x="1524000" y="460176"/>
            <a:ext cx="9144000" cy="748318"/>
          </a:xfrm>
        </p:spPr>
        <p:txBody>
          <a:bodyPr>
            <a:normAutofit fontScale="90000"/>
          </a:bodyPr>
          <a:lstStyle/>
          <a:p>
            <a:r>
              <a:rPr sz="5400" b="1">
                <a:solidFill>
                  <a:srgbClr val="6C3D91"/>
                </a:solidFill>
                <a:latin typeface="Aptos Display"/>
              </a:rPr>
              <a:t>C_lines</a:t>
            </a:r>
          </a:p>
        </p:txBody>
      </p:sp>
      <p:sp>
        <p:nvSpPr>
          <p:cNvPr id="3" name="Subtitle 2"/>
          <p:cNvSpPr>
            <a:spLocks noGrp="1"/>
          </p:cNvSpPr>
          <p:nvPr>
            <p:ph type="subTitle" idx="1"/>
          </p:nvPr>
        </p:nvSpPr>
        <p:spPr>
          <a:xfrm>
            <a:off x="1524000" y="1166830"/>
            <a:ext cx="9144000" cy="403704"/>
          </a:xfrm>
        </p:spPr>
        <p:txBody>
          <a:bodyPr/>
          <a:lstStyle/>
          <a:p>
            <a:r>
              <a:rPr sz="1800" dirty="0">
                <a:solidFill>
                  <a:srgbClr val="222222"/>
                </a:solidFill>
                <a:latin typeface="Aptos"/>
              </a:rPr>
              <a:t>A self-play reinforcement-learning agent for an original board game</a:t>
            </a:r>
          </a:p>
        </p:txBody>
      </p:sp>
      <p:sp>
        <p:nvSpPr>
          <p:cNvPr id="4" name="TextBox 3"/>
          <p:cNvSpPr txBox="1"/>
          <p:nvPr/>
        </p:nvSpPr>
        <p:spPr>
          <a:xfrm>
            <a:off x="1992497" y="6118618"/>
            <a:ext cx="8996516" cy="338554"/>
          </a:xfrm>
          <a:prstGeom prst="rect">
            <a:avLst/>
          </a:prstGeom>
          <a:noFill/>
        </p:spPr>
        <p:txBody>
          <a:bodyPr wrap="square">
            <a:spAutoFit/>
          </a:bodyPr>
          <a:lstStyle/>
          <a:p>
            <a:pPr algn="l">
              <a:spcAft>
                <a:spcPts val="600"/>
              </a:spcAft>
            </a:pPr>
            <a:r>
              <a:rPr sz="1600" b="0" dirty="0">
                <a:solidFill>
                  <a:srgbClr val="525A60"/>
                </a:solidFill>
                <a:latin typeface="Aptos"/>
              </a:rPr>
              <a:t>ITRI 616</a:t>
            </a:r>
            <a:r>
              <a:rPr lang="en-US" sz="1600" b="0" dirty="0">
                <a:solidFill>
                  <a:srgbClr val="525A60"/>
                </a:solidFill>
                <a:latin typeface="Aptos"/>
              </a:rPr>
              <a:t> </a:t>
            </a:r>
            <a:r>
              <a:rPr sz="1600" b="0" dirty="0">
                <a:solidFill>
                  <a:srgbClr val="525A60"/>
                </a:solidFill>
                <a:latin typeface="Aptos"/>
              </a:rPr>
              <a:t> Artificial Intelligence 1   ·   8×8 board · points-until-full · run_pts_002 (10,000 self-play games)</a:t>
            </a:r>
          </a:p>
        </p:txBody>
      </p:sp>
      <p:pic>
        <p:nvPicPr>
          <p:cNvPr id="41" name="Audio 40">
            <a:hlinkClick r:id="" action="ppaction://media"/>
            <a:extLst>
              <a:ext uri="{FF2B5EF4-FFF2-40B4-BE49-F238E27FC236}">
                <a16:creationId xmlns:a16="http://schemas.microsoft.com/office/drawing/2014/main" id="{9B13BF49-5454-083A-A635-0E5DA62D6F83}"/>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12798"/>
    </mc:Choice>
    <mc:Fallback>
      <p:transition spd="slow" advTm="127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1"/>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6C3D91"/>
                </a:solidFill>
                <a:latin typeface="Aptos Display"/>
              </a:rPr>
              <a:t>The game: C_lines on an 8×8 board</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PROBLEM DEFINITION</a:t>
            </a:r>
          </a:p>
        </p:txBody>
      </p:sp>
      <p:sp>
        <p:nvSpPr>
          <p:cNvPr id="5" name="TextBox 4"/>
          <p:cNvSpPr txBox="1"/>
          <p:nvPr/>
        </p:nvSpPr>
        <p:spPr>
          <a:xfrm>
            <a:off x="457200" y="1554480"/>
            <a:ext cx="6035040" cy="3452227"/>
          </a:xfrm>
          <a:prstGeom prst="rect">
            <a:avLst/>
          </a:prstGeom>
          <a:noFill/>
        </p:spPr>
        <p:txBody>
          <a:bodyPr wrap="square">
            <a:spAutoFit/>
          </a:bodyPr>
          <a:lstStyle/>
          <a:p>
            <a:pPr algn="l">
              <a:spcAft>
                <a:spcPts val="1000"/>
              </a:spcAft>
            </a:pPr>
            <a:r>
              <a:rPr b="0" dirty="0">
                <a:solidFill>
                  <a:srgbClr val="222222"/>
                </a:solidFill>
                <a:latin typeface="Aptos"/>
              </a:rPr>
              <a:t>•  Open placement</a:t>
            </a:r>
            <a:r>
              <a:rPr lang="en-US" dirty="0">
                <a:solidFill>
                  <a:srgbClr val="222222"/>
                </a:solidFill>
                <a:latin typeface="Aptos"/>
              </a:rPr>
              <a:t>, </a:t>
            </a:r>
            <a:r>
              <a:rPr b="0" dirty="0">
                <a:solidFill>
                  <a:srgbClr val="222222"/>
                </a:solidFill>
                <a:latin typeface="Aptos"/>
              </a:rPr>
              <a:t>players alternate, placing one stone on ANY empty cell; no gravity, no column rule.</a:t>
            </a:r>
          </a:p>
          <a:p>
            <a:pPr algn="l">
              <a:spcAft>
                <a:spcPts val="1000"/>
              </a:spcAft>
            </a:pPr>
            <a:r>
              <a:rPr b="0" dirty="0">
                <a:solidFill>
                  <a:srgbClr val="222222"/>
                </a:solidFill>
                <a:latin typeface="Aptos"/>
              </a:rPr>
              <a:t>•  Board fills</a:t>
            </a:r>
            <a:r>
              <a:rPr lang="en-US" b="0" dirty="0">
                <a:solidFill>
                  <a:srgbClr val="222222"/>
                </a:solidFill>
                <a:latin typeface="Aptos"/>
              </a:rPr>
              <a:t>,</a:t>
            </a:r>
            <a:r>
              <a:rPr b="0" dirty="0">
                <a:solidFill>
                  <a:srgbClr val="222222"/>
                </a:solidFill>
                <a:latin typeface="Aptos"/>
              </a:rPr>
              <a:t> play continues until all 64 cells are occupied.</a:t>
            </a:r>
          </a:p>
          <a:p>
            <a:pPr algn="l">
              <a:spcAft>
                <a:spcPts val="1000"/>
              </a:spcAft>
            </a:pPr>
            <a:r>
              <a:rPr b="0" dirty="0">
                <a:solidFill>
                  <a:srgbClr val="222222"/>
                </a:solidFill>
                <a:latin typeface="Aptos"/>
              </a:rPr>
              <a:t>•  Line scoring </a:t>
            </a:r>
            <a:r>
              <a:rPr lang="en-US" b="0" dirty="0">
                <a:solidFill>
                  <a:srgbClr val="222222"/>
                </a:solidFill>
                <a:latin typeface="Aptos"/>
              </a:rPr>
              <a:t>,</a:t>
            </a:r>
            <a:r>
              <a:rPr b="0" dirty="0">
                <a:solidFill>
                  <a:srgbClr val="222222"/>
                </a:solidFill>
                <a:latin typeface="Aptos"/>
              </a:rPr>
              <a:t> score for straight runs (any direction) of length 3–8; longer lines worth far more (3 → 0.25 … 8 → 5.0).</a:t>
            </a:r>
          </a:p>
          <a:p>
            <a:pPr algn="l">
              <a:spcAft>
                <a:spcPts val="1000"/>
              </a:spcAft>
            </a:pPr>
            <a:r>
              <a:rPr b="0" dirty="0">
                <a:solidFill>
                  <a:srgbClr val="222222"/>
                </a:solidFill>
                <a:latin typeface="Aptos"/>
              </a:rPr>
              <a:t>•  Win condition</a:t>
            </a:r>
            <a:r>
              <a:rPr lang="en-US" b="0" dirty="0">
                <a:solidFill>
                  <a:srgbClr val="222222"/>
                </a:solidFill>
                <a:latin typeface="Aptos"/>
              </a:rPr>
              <a:t>, </a:t>
            </a:r>
            <a:r>
              <a:rPr b="0" dirty="0">
                <a:solidFill>
                  <a:srgbClr val="222222"/>
                </a:solidFill>
                <a:latin typeface="Aptos"/>
              </a:rPr>
              <a:t> highest total score when the board fills; a tie-break removes draws.</a:t>
            </a:r>
          </a:p>
          <a:p>
            <a:pPr algn="l">
              <a:spcAft>
                <a:spcPts val="600"/>
              </a:spcAft>
            </a:pPr>
            <a:r>
              <a:rPr b="0" dirty="0">
                <a:solidFill>
                  <a:schemeClr val="accent4">
                    <a:lumMod val="10000"/>
                  </a:schemeClr>
                </a:solidFill>
                <a:latin typeface="Aptos"/>
              </a:rPr>
              <a:t>•  </a:t>
            </a:r>
            <a:r>
              <a:rPr lang="en-US" b="0" dirty="0">
                <a:solidFill>
                  <a:schemeClr val="accent4">
                    <a:lumMod val="10000"/>
                  </a:schemeClr>
                </a:solidFill>
                <a:latin typeface="Aptos"/>
              </a:rPr>
              <a:t>There are possible</a:t>
            </a:r>
            <a:r>
              <a:rPr b="0" dirty="0">
                <a:solidFill>
                  <a:schemeClr val="accent4">
                    <a:lumMod val="10000"/>
                  </a:schemeClr>
                </a:solidFill>
                <a:latin typeface="Aptos"/>
              </a:rPr>
              <a:t> 64 opening moves</a:t>
            </a:r>
            <a:endParaRPr lang="en-ZA" dirty="0">
              <a:solidFill>
                <a:schemeClr val="accent4">
                  <a:lumMod val="10000"/>
                </a:schemeClr>
              </a:solidFill>
              <a:latin typeface="Aptos"/>
            </a:endParaRPr>
          </a:p>
          <a:p>
            <a:pPr algn="l">
              <a:spcAft>
                <a:spcPts val="600"/>
              </a:spcAft>
            </a:pPr>
            <a:r>
              <a:rPr lang="en-ZA" b="0" dirty="0">
                <a:solidFill>
                  <a:schemeClr val="accent4">
                    <a:lumMod val="10000"/>
                  </a:schemeClr>
                </a:solidFill>
                <a:latin typeface="Aptos"/>
              </a:rPr>
              <a:t>Y</a:t>
            </a:r>
            <a:r>
              <a:rPr b="0" dirty="0" err="1">
                <a:solidFill>
                  <a:schemeClr val="accent4">
                    <a:lumMod val="10000"/>
                  </a:schemeClr>
                </a:solidFill>
                <a:latin typeface="Aptos"/>
              </a:rPr>
              <a:t>ou</a:t>
            </a:r>
            <a:r>
              <a:rPr b="0" dirty="0">
                <a:solidFill>
                  <a:schemeClr val="accent4">
                    <a:lumMod val="10000"/>
                  </a:schemeClr>
                </a:solidFill>
                <a:latin typeface="Aptos"/>
              </a:rPr>
              <a:t> must BUILD your own lines and BLOCK the opponent over a 64-move horizon.</a:t>
            </a:r>
          </a:p>
        </p:txBody>
      </p:sp>
      <p:pic>
        <p:nvPicPr>
          <p:cNvPr id="6" name="Picture 5">
            <a:extLst>
              <a:ext uri="{FF2B5EF4-FFF2-40B4-BE49-F238E27FC236}">
                <a16:creationId xmlns:a16="http://schemas.microsoft.com/office/drawing/2014/main" id="{0E207000-7CEE-D6A7-24B5-2AE562C1CF21}"/>
              </a:ext>
            </a:extLst>
          </p:cNvPr>
          <p:cNvPicPr>
            <a:picLocks noChangeAspect="1"/>
          </p:cNvPicPr>
          <p:nvPr/>
        </p:nvPicPr>
        <p:blipFill rotWithShape="1">
          <a:blip r:embed="rId5">
            <a:extLst>
              <a:ext uri="{28A0092B-C50C-407E-A947-70E740481C1C}">
                <a14:useLocalDpi xmlns:a14="http://schemas.microsoft.com/office/drawing/2010/main" val="0"/>
              </a:ext>
            </a:extLst>
          </a:blip>
          <a:srcRect l="606" t="18782" r="45070" b="19179"/>
          <a:stretch>
            <a:fillRect/>
          </a:stretch>
        </p:blipFill>
        <p:spPr bwMode="auto">
          <a:xfrm>
            <a:off x="6982691" y="110103"/>
            <a:ext cx="4301635" cy="3274922"/>
          </a:xfrm>
          <a:prstGeom prst="rect">
            <a:avLst/>
          </a:prstGeom>
          <a:noFill/>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3714855D-6951-E564-1407-607CAF598C93}"/>
              </a:ext>
            </a:extLst>
          </p:cNvPr>
          <p:cNvPicPr>
            <a:picLocks noChangeAspect="1"/>
          </p:cNvPicPr>
          <p:nvPr/>
        </p:nvPicPr>
        <p:blipFill>
          <a:blip r:embed="rId6"/>
          <a:srcRect l="17203" t="14452" r="24815" b="26515"/>
          <a:stretch>
            <a:fillRect/>
          </a:stretch>
        </p:blipFill>
        <p:spPr>
          <a:xfrm>
            <a:off x="6982691" y="3492778"/>
            <a:ext cx="4580694" cy="3109190"/>
          </a:xfrm>
          <a:prstGeom prst="rect">
            <a:avLst/>
          </a:prstGeom>
        </p:spPr>
      </p:pic>
      <p:pic>
        <p:nvPicPr>
          <p:cNvPr id="13" name="Audio 12">
            <a:hlinkClick r:id="" action="ppaction://media"/>
            <a:extLst>
              <a:ext uri="{FF2B5EF4-FFF2-40B4-BE49-F238E27FC236}">
                <a16:creationId xmlns:a16="http://schemas.microsoft.com/office/drawing/2014/main" id="{3958B522-5272-A662-CBB8-49045A8CFB8C}"/>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0239"/>
    </mc:Choice>
    <mc:Fallback>
      <p:transition spd="slow" advTm="202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402495"/>
            <a:ext cx="10515600" cy="1325563"/>
          </a:xfrm>
        </p:spPr>
        <p:txBody>
          <a:bodyPr>
            <a:normAutofit/>
          </a:bodyPr>
          <a:lstStyle/>
          <a:p>
            <a:r>
              <a:rPr sz="3600" b="1" dirty="0">
                <a:solidFill>
                  <a:srgbClr val="6C3D91"/>
                </a:solidFill>
                <a:latin typeface="Aptos Display"/>
              </a:rPr>
              <a:t>The learning problem</a:t>
            </a:r>
          </a:p>
        </p:txBody>
      </p:sp>
      <p:sp>
        <p:nvSpPr>
          <p:cNvPr id="3" name="TextBox 2"/>
          <p:cNvSpPr txBox="1"/>
          <p:nvPr/>
        </p:nvSpPr>
        <p:spPr>
          <a:xfrm>
            <a:off x="457200" y="256032"/>
            <a:ext cx="8229600" cy="369332"/>
          </a:xfrm>
          <a:prstGeom prst="rect">
            <a:avLst/>
          </a:prstGeom>
          <a:noFill/>
        </p:spPr>
        <p:txBody>
          <a:bodyPr wrap="square">
            <a:spAutoFit/>
          </a:bodyPr>
          <a:lstStyle/>
          <a:p>
            <a:pPr algn="l">
              <a:spcAft>
                <a:spcPts val="600"/>
              </a:spcAft>
            </a:pPr>
            <a:r>
              <a:rPr b="1">
                <a:solidFill>
                  <a:srgbClr val="00889C"/>
                </a:solidFill>
                <a:latin typeface="Aptos"/>
              </a:rPr>
              <a:t>PROBLEM DEFINITION &amp; TEP FRAMEWORK</a:t>
            </a:r>
          </a:p>
        </p:txBody>
      </p:sp>
      <p:sp>
        <p:nvSpPr>
          <p:cNvPr id="4" name="Rectangle 3"/>
          <p:cNvSpPr/>
          <p:nvPr/>
        </p:nvSpPr>
        <p:spPr>
          <a:xfrm>
            <a:off x="457200"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T</a:t>
            </a:r>
          </a:p>
        </p:txBody>
      </p:sp>
      <p:sp>
        <p:nvSpPr>
          <p:cNvPr id="5" name="TextBox 4"/>
          <p:cNvSpPr txBox="1"/>
          <p:nvPr/>
        </p:nvSpPr>
        <p:spPr>
          <a:xfrm>
            <a:off x="1234440" y="1554480"/>
            <a:ext cx="2880360" cy="523220"/>
          </a:xfrm>
          <a:prstGeom prst="rect">
            <a:avLst/>
          </a:prstGeom>
          <a:noFill/>
        </p:spPr>
        <p:txBody>
          <a:bodyPr wrap="square">
            <a:spAutoFit/>
          </a:bodyPr>
          <a:lstStyle/>
          <a:p>
            <a:pPr algn="l">
              <a:spcAft>
                <a:spcPts val="600"/>
              </a:spcAft>
            </a:pPr>
            <a:r>
              <a:rPr sz="2800" b="1">
                <a:solidFill>
                  <a:srgbClr val="6C3D91"/>
                </a:solidFill>
                <a:latin typeface="Aptos"/>
              </a:rPr>
              <a:t>Task</a:t>
            </a:r>
          </a:p>
        </p:txBody>
      </p:sp>
      <p:sp>
        <p:nvSpPr>
          <p:cNvPr id="6" name="TextBox 5"/>
          <p:cNvSpPr txBox="1"/>
          <p:nvPr/>
        </p:nvSpPr>
        <p:spPr>
          <a:xfrm>
            <a:off x="457200" y="2377440"/>
            <a:ext cx="3657600" cy="1631216"/>
          </a:xfrm>
          <a:prstGeom prst="rect">
            <a:avLst/>
          </a:prstGeom>
          <a:noFill/>
        </p:spPr>
        <p:txBody>
          <a:bodyPr wrap="square">
            <a:spAutoFit/>
          </a:bodyPr>
          <a:lstStyle/>
          <a:p>
            <a:pPr algn="l">
              <a:spcAft>
                <a:spcPts val="600"/>
              </a:spcAft>
            </a:pPr>
            <a:r>
              <a:rPr sz="2000" b="0" dirty="0">
                <a:solidFill>
                  <a:srgbClr val="222222"/>
                </a:solidFill>
                <a:latin typeface="Aptos"/>
              </a:rPr>
              <a:t>Choose the placement that </a:t>
            </a:r>
            <a:r>
              <a:rPr sz="2000" b="0" dirty="0" err="1">
                <a:solidFill>
                  <a:srgbClr val="222222"/>
                </a:solidFill>
                <a:latin typeface="Aptos"/>
              </a:rPr>
              <a:t>maximises</a:t>
            </a:r>
            <a:r>
              <a:rPr sz="2000" b="0" dirty="0">
                <a:solidFill>
                  <a:srgbClr val="222222"/>
                </a:solidFill>
                <a:latin typeface="Aptos"/>
              </a:rPr>
              <a:t> the final score margin (own − opponent). Category: sequential DECISION-MAKING / CONTROL</a:t>
            </a:r>
          </a:p>
        </p:txBody>
      </p:sp>
      <p:sp>
        <p:nvSpPr>
          <p:cNvPr id="7" name="Rectangle 6"/>
          <p:cNvSpPr/>
          <p:nvPr/>
        </p:nvSpPr>
        <p:spPr>
          <a:xfrm>
            <a:off x="4361688" y="1554480"/>
            <a:ext cx="640080" cy="6400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E</a:t>
            </a:r>
          </a:p>
        </p:txBody>
      </p:sp>
      <p:sp>
        <p:nvSpPr>
          <p:cNvPr id="8" name="TextBox 7"/>
          <p:cNvSpPr txBox="1"/>
          <p:nvPr/>
        </p:nvSpPr>
        <p:spPr>
          <a:xfrm>
            <a:off x="5138928" y="1554480"/>
            <a:ext cx="2880360" cy="523220"/>
          </a:xfrm>
          <a:prstGeom prst="rect">
            <a:avLst/>
          </a:prstGeom>
          <a:noFill/>
        </p:spPr>
        <p:txBody>
          <a:bodyPr wrap="square">
            <a:spAutoFit/>
          </a:bodyPr>
          <a:lstStyle/>
          <a:p>
            <a:pPr algn="l">
              <a:spcAft>
                <a:spcPts val="600"/>
              </a:spcAft>
            </a:pPr>
            <a:r>
              <a:rPr sz="2800" b="1" dirty="0">
                <a:solidFill>
                  <a:srgbClr val="00889C"/>
                </a:solidFill>
                <a:latin typeface="Aptos"/>
              </a:rPr>
              <a:t>Experience</a:t>
            </a:r>
          </a:p>
        </p:txBody>
      </p:sp>
      <p:sp>
        <p:nvSpPr>
          <p:cNvPr id="9" name="TextBox 8"/>
          <p:cNvSpPr txBox="1"/>
          <p:nvPr/>
        </p:nvSpPr>
        <p:spPr>
          <a:xfrm>
            <a:off x="4361688" y="2377440"/>
            <a:ext cx="3657600" cy="1938992"/>
          </a:xfrm>
          <a:prstGeom prst="rect">
            <a:avLst/>
          </a:prstGeom>
          <a:noFill/>
        </p:spPr>
        <p:txBody>
          <a:bodyPr wrap="square">
            <a:spAutoFit/>
          </a:bodyPr>
          <a:lstStyle/>
          <a:p>
            <a:pPr algn="l">
              <a:spcAft>
                <a:spcPts val="600"/>
              </a:spcAft>
            </a:pPr>
            <a:r>
              <a:rPr sz="2000" b="0" dirty="0">
                <a:solidFill>
                  <a:srgbClr val="222222"/>
                </a:solidFill>
                <a:latin typeface="Aptos"/>
              </a:rPr>
              <a:t>Self-generated games: a short warm-up vs Random &amp; Heuristic, then SELF-PLAY against frozen past versions. As the agent improves, so do its opponent</a:t>
            </a:r>
            <a:r>
              <a:rPr lang="en-ZA" sz="2000" b="0" dirty="0">
                <a:solidFill>
                  <a:srgbClr val="222222"/>
                </a:solidFill>
                <a:latin typeface="Aptos"/>
              </a:rPr>
              <a:t>s</a:t>
            </a:r>
            <a:endParaRPr sz="2000" b="0" dirty="0">
              <a:solidFill>
                <a:srgbClr val="222222"/>
              </a:solidFill>
              <a:latin typeface="Aptos"/>
            </a:endParaRPr>
          </a:p>
        </p:txBody>
      </p:sp>
      <p:sp>
        <p:nvSpPr>
          <p:cNvPr id="10" name="Rectangle 9"/>
          <p:cNvSpPr/>
          <p:nvPr/>
        </p:nvSpPr>
        <p:spPr>
          <a:xfrm>
            <a:off x="8266176"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P</a:t>
            </a:r>
          </a:p>
        </p:txBody>
      </p:sp>
      <p:sp>
        <p:nvSpPr>
          <p:cNvPr id="11" name="TextBox 10"/>
          <p:cNvSpPr txBox="1"/>
          <p:nvPr/>
        </p:nvSpPr>
        <p:spPr>
          <a:xfrm>
            <a:off x="9043416" y="1554480"/>
            <a:ext cx="2880360" cy="523220"/>
          </a:xfrm>
          <a:prstGeom prst="rect">
            <a:avLst/>
          </a:prstGeom>
          <a:noFill/>
        </p:spPr>
        <p:txBody>
          <a:bodyPr wrap="square">
            <a:spAutoFit/>
          </a:bodyPr>
          <a:lstStyle/>
          <a:p>
            <a:pPr algn="l">
              <a:spcAft>
                <a:spcPts val="600"/>
              </a:spcAft>
            </a:pPr>
            <a:r>
              <a:rPr sz="2800" b="1">
                <a:solidFill>
                  <a:srgbClr val="6C3D91"/>
                </a:solidFill>
                <a:latin typeface="Aptos"/>
              </a:rPr>
              <a:t>Performance</a:t>
            </a:r>
          </a:p>
        </p:txBody>
      </p:sp>
      <p:sp>
        <p:nvSpPr>
          <p:cNvPr id="12" name="TextBox 11"/>
          <p:cNvSpPr txBox="1"/>
          <p:nvPr/>
        </p:nvSpPr>
        <p:spPr>
          <a:xfrm>
            <a:off x="8266176" y="2377440"/>
            <a:ext cx="3657600" cy="1631216"/>
          </a:xfrm>
          <a:prstGeom prst="rect">
            <a:avLst/>
          </a:prstGeom>
          <a:noFill/>
        </p:spPr>
        <p:txBody>
          <a:bodyPr wrap="square">
            <a:spAutoFit/>
          </a:bodyPr>
          <a:lstStyle/>
          <a:p>
            <a:pPr algn="l">
              <a:spcAft>
                <a:spcPts val="600"/>
              </a:spcAft>
            </a:pPr>
            <a:r>
              <a:rPr sz="2000" b="0">
                <a:solidFill>
                  <a:srgbClr val="222222"/>
                </a:solidFill>
                <a:latin typeface="Aptos"/>
              </a:rPr>
              <a:t>Four metrics every 100 games: win rate vs Random, vs Heuristic, an Elo rating, and win rate vs a 4-ply Alpha-Beta search.</a:t>
            </a:r>
          </a:p>
        </p:txBody>
      </p:sp>
      <p:pic>
        <p:nvPicPr>
          <p:cNvPr id="48" name="Audio 47">
            <a:hlinkClick r:id="" action="ppaction://media"/>
            <a:extLst>
              <a:ext uri="{FF2B5EF4-FFF2-40B4-BE49-F238E27FC236}">
                <a16:creationId xmlns:a16="http://schemas.microsoft.com/office/drawing/2014/main" id="{47C72C18-C44E-AAE2-DB9E-818B6CA6B5E8}"/>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71364"/>
    </mc:Choice>
    <mc:Fallback>
      <p:transition spd="slow" advTm="713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8"/>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b="1">
                <a:solidFill>
                  <a:srgbClr val="6C3D91"/>
                </a:solidFill>
                <a:latin typeface="Aptos Display"/>
              </a:rPr>
              <a:t>The algorithm: a self-play Deep Q-Network</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400" b="1">
                <a:solidFill>
                  <a:srgbClr val="00889C"/>
                </a:solidFill>
                <a:latin typeface="Aptos"/>
              </a:rPr>
              <a:t>TECHNICAL UNDERSTANDING &amp; METHODOLOGY</a:t>
            </a:r>
          </a:p>
        </p:txBody>
      </p:sp>
      <p:sp>
        <p:nvSpPr>
          <p:cNvPr id="4" name="Rectangle 3"/>
          <p:cNvSpPr/>
          <p:nvPr/>
        </p:nvSpPr>
        <p:spPr>
          <a:xfrm>
            <a:off x="54864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10-channel
board state</a:t>
            </a:r>
          </a:p>
        </p:txBody>
      </p:sp>
      <p:sp>
        <p:nvSpPr>
          <p:cNvPr id="5" name="TextBox 4"/>
          <p:cNvSpPr txBox="1"/>
          <p:nvPr/>
        </p:nvSpPr>
        <p:spPr>
          <a:xfrm>
            <a:off x="283464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6" name="Rectangle 5"/>
          <p:cNvSpPr/>
          <p:nvPr/>
        </p:nvSpPr>
        <p:spPr>
          <a:xfrm>
            <a:off x="333756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Residual CNN
(4 blocks, 64ch)</a:t>
            </a:r>
          </a:p>
        </p:txBody>
      </p:sp>
      <p:sp>
        <p:nvSpPr>
          <p:cNvPr id="7" name="TextBox 6"/>
          <p:cNvSpPr txBox="1"/>
          <p:nvPr/>
        </p:nvSpPr>
        <p:spPr>
          <a:xfrm>
            <a:off x="562356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8" name="Rectangle 7"/>
          <p:cNvSpPr/>
          <p:nvPr/>
        </p:nvSpPr>
        <p:spPr>
          <a:xfrm>
            <a:off x="612648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Q-value
per cell</a:t>
            </a:r>
          </a:p>
        </p:txBody>
      </p:sp>
      <p:sp>
        <p:nvSpPr>
          <p:cNvPr id="9" name="TextBox 8"/>
          <p:cNvSpPr txBox="1"/>
          <p:nvPr/>
        </p:nvSpPr>
        <p:spPr>
          <a:xfrm>
            <a:off x="841248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10" name="Rectangle 9"/>
          <p:cNvSpPr/>
          <p:nvPr/>
        </p:nvSpPr>
        <p:spPr>
          <a:xfrm>
            <a:off x="891540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ε-greedy
move</a:t>
            </a:r>
          </a:p>
        </p:txBody>
      </p:sp>
      <p:sp>
        <p:nvSpPr>
          <p:cNvPr id="11" name="TextBox 10"/>
          <p:cNvSpPr txBox="1"/>
          <p:nvPr/>
        </p:nvSpPr>
        <p:spPr>
          <a:xfrm>
            <a:off x="548640" y="2514600"/>
            <a:ext cx="10972800" cy="369332"/>
          </a:xfrm>
          <a:prstGeom prst="rect">
            <a:avLst/>
          </a:prstGeom>
          <a:noFill/>
        </p:spPr>
        <p:txBody>
          <a:bodyPr wrap="square">
            <a:spAutoFit/>
          </a:bodyPr>
          <a:lstStyle/>
          <a:p>
            <a:pPr algn="l">
              <a:spcAft>
                <a:spcPts val="600"/>
              </a:spcAft>
            </a:pPr>
            <a:r>
              <a:rPr b="0" dirty="0">
                <a:solidFill>
                  <a:srgbClr val="525A60"/>
                </a:solidFill>
                <a:latin typeface="Aptos"/>
              </a:rPr>
              <a:t>Learning loop: transitions are stored in a replay buffer and feed gradient updates.</a:t>
            </a:r>
          </a:p>
        </p:txBody>
      </p:sp>
      <p:sp>
        <p:nvSpPr>
          <p:cNvPr id="12" name="TextBox 11"/>
          <p:cNvSpPr txBox="1"/>
          <p:nvPr/>
        </p:nvSpPr>
        <p:spPr>
          <a:xfrm>
            <a:off x="548640" y="3108960"/>
            <a:ext cx="5394960" cy="2908489"/>
          </a:xfrm>
          <a:prstGeom prst="rect">
            <a:avLst/>
          </a:prstGeom>
          <a:noFill/>
        </p:spPr>
        <p:txBody>
          <a:bodyPr wrap="square">
            <a:spAutoFit/>
          </a:bodyPr>
          <a:lstStyle/>
          <a:p>
            <a:pPr algn="l">
              <a:spcAft>
                <a:spcPts val="600"/>
              </a:spcAft>
            </a:pPr>
            <a:r>
              <a:rPr sz="2800" b="1" dirty="0">
                <a:solidFill>
                  <a:srgbClr val="6C3D91"/>
                </a:solidFill>
                <a:latin typeface="Aptos"/>
              </a:rPr>
              <a:t>Why DQN?</a:t>
            </a:r>
          </a:p>
          <a:p>
            <a:pPr algn="l">
              <a:spcAft>
                <a:spcPts val="600"/>
              </a:spcAft>
            </a:pPr>
            <a:r>
              <a:rPr sz="2000" b="0" dirty="0">
                <a:solidFill>
                  <a:srgbClr val="222222"/>
                </a:solidFill>
                <a:latin typeface="Aptos"/>
              </a:rPr>
              <a:t>•  Sequential control with delayed reward</a:t>
            </a:r>
            <a:r>
              <a:rPr lang="en-US" sz="2000" b="0" dirty="0">
                <a:solidFill>
                  <a:srgbClr val="222222"/>
                </a:solidFill>
                <a:latin typeface="Aptos"/>
              </a:rPr>
              <a:t>, </a:t>
            </a:r>
            <a:r>
              <a:rPr sz="2000" b="0" dirty="0">
                <a:solidFill>
                  <a:srgbClr val="222222"/>
                </a:solidFill>
                <a:latin typeface="Aptos"/>
              </a:rPr>
              <a:t>a move's value only emerges when the board fills.</a:t>
            </a:r>
          </a:p>
          <a:p>
            <a:pPr algn="l">
              <a:spcAft>
                <a:spcPts val="600"/>
              </a:spcAft>
            </a:pPr>
            <a:r>
              <a:rPr sz="2000" b="0" dirty="0">
                <a:solidFill>
                  <a:srgbClr val="222222"/>
                </a:solidFill>
                <a:latin typeface="Aptos"/>
              </a:rPr>
              <a:t>•  Q-learning's TD target is built for that credit assignment.</a:t>
            </a:r>
          </a:p>
          <a:p>
            <a:pPr algn="l">
              <a:spcAft>
                <a:spcPts val="600"/>
              </a:spcAft>
            </a:pPr>
            <a:r>
              <a:rPr sz="2000" b="0" dirty="0">
                <a:solidFill>
                  <a:srgbClr val="222222"/>
                </a:solidFill>
                <a:latin typeface="Aptos"/>
              </a:rPr>
              <a:t>•  No labelled 'correct' moves exist for an original game, so supervised learning does not apply.</a:t>
            </a:r>
          </a:p>
        </p:txBody>
      </p:sp>
      <p:sp>
        <p:nvSpPr>
          <p:cNvPr id="13" name="TextBox 12"/>
          <p:cNvSpPr txBox="1"/>
          <p:nvPr/>
        </p:nvSpPr>
        <p:spPr>
          <a:xfrm>
            <a:off x="6217920" y="3108960"/>
            <a:ext cx="5394960" cy="2292935"/>
          </a:xfrm>
          <a:prstGeom prst="rect">
            <a:avLst/>
          </a:prstGeom>
          <a:noFill/>
        </p:spPr>
        <p:txBody>
          <a:bodyPr wrap="square">
            <a:spAutoFit/>
          </a:bodyPr>
          <a:lstStyle/>
          <a:p>
            <a:pPr algn="l">
              <a:spcAft>
                <a:spcPts val="600"/>
              </a:spcAft>
            </a:pPr>
            <a:r>
              <a:rPr sz="2800" b="1" dirty="0">
                <a:solidFill>
                  <a:srgbClr val="00889C"/>
                </a:solidFill>
                <a:latin typeface="Aptos"/>
              </a:rPr>
              <a:t>Reward design</a:t>
            </a:r>
          </a:p>
          <a:p>
            <a:pPr algn="l">
              <a:spcAft>
                <a:spcPts val="600"/>
              </a:spcAft>
            </a:pPr>
            <a:r>
              <a:rPr sz="2000" b="0" dirty="0">
                <a:solidFill>
                  <a:srgbClr val="222222"/>
                </a:solidFill>
                <a:latin typeface="Aptos"/>
              </a:rPr>
              <a:t>•  Dense delta-score shaping: per-move change in (own − opponent) score.</a:t>
            </a:r>
          </a:p>
          <a:p>
            <a:pPr algn="l">
              <a:spcAft>
                <a:spcPts val="600"/>
              </a:spcAft>
            </a:pPr>
            <a:r>
              <a:rPr sz="2000" b="0" dirty="0">
                <a:solidFill>
                  <a:srgbClr val="222222"/>
                </a:solidFill>
                <a:latin typeface="Aptos"/>
              </a:rPr>
              <a:t>•  Plus a terminal ±1 for the win / loss.</a:t>
            </a:r>
          </a:p>
          <a:p>
            <a:pPr algn="l">
              <a:spcAft>
                <a:spcPts val="600"/>
              </a:spcAft>
            </a:pPr>
            <a:r>
              <a:rPr sz="2000" b="0" dirty="0">
                <a:solidFill>
                  <a:srgbClr val="222222"/>
                </a:solidFill>
                <a:latin typeface="Aptos"/>
              </a:rPr>
              <a:t>•  </a:t>
            </a:r>
            <a:r>
              <a:rPr lang="en-ZA" sz="2000" dirty="0">
                <a:solidFill>
                  <a:srgbClr val="222222"/>
                </a:solidFill>
                <a:latin typeface="Aptos"/>
              </a:rPr>
              <a:t>E</a:t>
            </a:r>
            <a:r>
              <a:rPr sz="2000" b="0" dirty="0">
                <a:solidFill>
                  <a:srgbClr val="222222"/>
                </a:solidFill>
                <a:latin typeface="Aptos"/>
              </a:rPr>
              <a:t>very step points to the same goal as the final outcome.</a:t>
            </a:r>
          </a:p>
        </p:txBody>
      </p:sp>
      <p:pic>
        <p:nvPicPr>
          <p:cNvPr id="17" name="Audio 16">
            <a:hlinkClick r:id="" action="ppaction://media"/>
            <a:extLst>
              <a:ext uri="{FF2B5EF4-FFF2-40B4-BE49-F238E27FC236}">
                <a16:creationId xmlns:a16="http://schemas.microsoft.com/office/drawing/2014/main" id="{76A308E6-8F92-729E-DAE6-EEC37DD092C5}"/>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63059"/>
    </mc:Choice>
    <mc:Fallback>
      <p:transition spd="slow" advTm="630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a:solidFill>
                  <a:srgbClr val="6C3D91"/>
                </a:solidFill>
                <a:latin typeface="Aptos Display"/>
              </a:rPr>
              <a:t>Three implementation choices that make it work</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TECHNICAL UNDERSTANDING &amp; METHODOLOGY</a:t>
            </a:r>
          </a:p>
        </p:txBody>
      </p:sp>
      <p:sp>
        <p:nvSpPr>
          <p:cNvPr id="4" name="Rectangle 3"/>
          <p:cNvSpPr/>
          <p:nvPr/>
        </p:nvSpPr>
        <p:spPr>
          <a:xfrm>
            <a:off x="548640" y="160020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976524" y="1899768"/>
            <a:ext cx="10789920" cy="777136"/>
          </a:xfrm>
          <a:prstGeom prst="rect">
            <a:avLst/>
          </a:prstGeom>
          <a:noFill/>
        </p:spPr>
        <p:txBody>
          <a:bodyPr wrap="square">
            <a:spAutoFit/>
          </a:bodyPr>
          <a:lstStyle/>
          <a:p>
            <a:pPr algn="l">
              <a:spcAft>
                <a:spcPts val="300"/>
              </a:spcAft>
            </a:pPr>
            <a:r>
              <a:rPr sz="2400" b="1" dirty="0" err="1">
                <a:solidFill>
                  <a:srgbClr val="6C3D91"/>
                </a:solidFill>
                <a:latin typeface="Aptos"/>
              </a:rPr>
              <a:t>Negamax</a:t>
            </a:r>
            <a:r>
              <a:rPr sz="2400" b="1" dirty="0">
                <a:solidFill>
                  <a:srgbClr val="6C3D91"/>
                </a:solidFill>
                <a:latin typeface="Aptos"/>
              </a:rPr>
              <a:t> value target</a:t>
            </a:r>
          </a:p>
          <a:p>
            <a:pPr algn="l">
              <a:spcAft>
                <a:spcPts val="600"/>
              </a:spcAft>
            </a:pPr>
            <a:r>
              <a:rPr b="0" dirty="0">
                <a:solidFill>
                  <a:srgbClr val="222222"/>
                </a:solidFill>
                <a:latin typeface="Aptos"/>
              </a:rPr>
              <a:t>The next position is the OPPONENT's, so the bootstrap is subtracted, not added:  target = r − </a:t>
            </a:r>
            <a:r>
              <a:rPr b="0" dirty="0" err="1">
                <a:solidFill>
                  <a:srgbClr val="222222"/>
                </a:solidFill>
                <a:latin typeface="Aptos"/>
              </a:rPr>
              <a:t>γ·max</a:t>
            </a:r>
            <a:r>
              <a:rPr b="0" dirty="0">
                <a:solidFill>
                  <a:srgbClr val="222222"/>
                </a:solidFill>
                <a:latin typeface="Aptos"/>
              </a:rPr>
              <a:t> Q(s′). </a:t>
            </a:r>
          </a:p>
        </p:txBody>
      </p:sp>
      <p:sp>
        <p:nvSpPr>
          <p:cNvPr id="6" name="Rectangle 5"/>
          <p:cNvSpPr/>
          <p:nvPr/>
        </p:nvSpPr>
        <p:spPr>
          <a:xfrm>
            <a:off x="548640" y="2926080"/>
            <a:ext cx="109728" cy="114300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22960" y="2926080"/>
            <a:ext cx="10789920" cy="1054135"/>
          </a:xfrm>
          <a:prstGeom prst="rect">
            <a:avLst/>
          </a:prstGeom>
          <a:noFill/>
        </p:spPr>
        <p:txBody>
          <a:bodyPr wrap="square">
            <a:spAutoFit/>
          </a:bodyPr>
          <a:lstStyle/>
          <a:p>
            <a:pPr algn="l">
              <a:spcAft>
                <a:spcPts val="300"/>
              </a:spcAft>
            </a:pPr>
            <a:r>
              <a:rPr sz="2400" b="1" dirty="0">
                <a:solidFill>
                  <a:srgbClr val="00889C"/>
                </a:solidFill>
                <a:latin typeface="Aptos"/>
              </a:rPr>
              <a:t>Double DQN + Huber loss</a:t>
            </a:r>
          </a:p>
          <a:p>
            <a:pPr algn="l">
              <a:spcAft>
                <a:spcPts val="600"/>
              </a:spcAft>
            </a:pPr>
            <a:r>
              <a:rPr b="0" dirty="0">
                <a:solidFill>
                  <a:srgbClr val="222222"/>
                </a:solidFill>
                <a:latin typeface="Aptos"/>
              </a:rPr>
              <a:t>The online net selects the action, the target net evaluates it</a:t>
            </a:r>
            <a:r>
              <a:rPr lang="en-ZA" b="0" dirty="0">
                <a:solidFill>
                  <a:srgbClr val="222222"/>
                </a:solidFill>
                <a:latin typeface="Aptos"/>
              </a:rPr>
              <a:t>, </a:t>
            </a:r>
            <a:r>
              <a:rPr b="0" dirty="0">
                <a:solidFill>
                  <a:srgbClr val="222222"/>
                </a:solidFill>
                <a:latin typeface="Aptos"/>
              </a:rPr>
              <a:t> cutting overestimation. Huber loss keeps updates stable against large TD errors. Together: no late-run collapse.</a:t>
            </a:r>
          </a:p>
        </p:txBody>
      </p:sp>
      <p:sp>
        <p:nvSpPr>
          <p:cNvPr id="8" name="Rectangle 7"/>
          <p:cNvSpPr/>
          <p:nvPr/>
        </p:nvSpPr>
        <p:spPr>
          <a:xfrm>
            <a:off x="548640" y="425196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4251960"/>
            <a:ext cx="10789920" cy="1054135"/>
          </a:xfrm>
          <a:prstGeom prst="rect">
            <a:avLst/>
          </a:prstGeom>
          <a:noFill/>
        </p:spPr>
        <p:txBody>
          <a:bodyPr wrap="square">
            <a:spAutoFit/>
          </a:bodyPr>
          <a:lstStyle/>
          <a:p>
            <a:pPr algn="l">
              <a:spcAft>
                <a:spcPts val="300"/>
              </a:spcAft>
            </a:pPr>
            <a:r>
              <a:rPr sz="2400" b="1" dirty="0">
                <a:solidFill>
                  <a:srgbClr val="6C3D91"/>
                </a:solidFill>
                <a:latin typeface="Aptos"/>
              </a:rPr>
              <a:t>D4 symmetry augmentation</a:t>
            </a:r>
          </a:p>
          <a:p>
            <a:pPr algn="l">
              <a:spcAft>
                <a:spcPts val="600"/>
              </a:spcAft>
            </a:pPr>
            <a:r>
              <a:rPr b="0" dirty="0">
                <a:solidFill>
                  <a:srgbClr val="222222"/>
                </a:solidFill>
                <a:latin typeface="Aptos"/>
              </a:rPr>
              <a:t>Every board is also 7 rotations / reflections</a:t>
            </a:r>
            <a:r>
              <a:rPr lang="en-ZA" b="0" dirty="0">
                <a:solidFill>
                  <a:srgbClr val="222222"/>
                </a:solidFill>
                <a:latin typeface="Aptos"/>
              </a:rPr>
              <a:t>, </a:t>
            </a:r>
            <a:r>
              <a:rPr b="0" dirty="0">
                <a:solidFill>
                  <a:srgbClr val="222222"/>
                </a:solidFill>
                <a:latin typeface="Aptos"/>
              </a:rPr>
              <a:t> multiplying training data eight-fold for free and </a:t>
            </a:r>
            <a:r>
              <a:rPr b="0" dirty="0" err="1">
                <a:solidFill>
                  <a:srgbClr val="222222"/>
                </a:solidFill>
                <a:latin typeface="Aptos"/>
              </a:rPr>
              <a:t>regularising</a:t>
            </a:r>
            <a:r>
              <a:rPr b="0" dirty="0">
                <a:solidFill>
                  <a:srgbClr val="222222"/>
                </a:solidFill>
                <a:latin typeface="Aptos"/>
              </a:rPr>
              <a:t> toward the board's true symmetry.</a:t>
            </a:r>
          </a:p>
        </p:txBody>
      </p:sp>
      <p:sp>
        <p:nvSpPr>
          <p:cNvPr id="10" name="TextBox 9"/>
          <p:cNvSpPr txBox="1"/>
          <p:nvPr/>
        </p:nvSpPr>
        <p:spPr>
          <a:xfrm>
            <a:off x="822960" y="5577840"/>
            <a:ext cx="10789920" cy="584775"/>
          </a:xfrm>
          <a:prstGeom prst="rect">
            <a:avLst/>
          </a:prstGeom>
          <a:noFill/>
        </p:spPr>
        <p:txBody>
          <a:bodyPr wrap="square">
            <a:spAutoFit/>
          </a:bodyPr>
          <a:lstStyle/>
          <a:p>
            <a:pPr algn="l">
              <a:spcAft>
                <a:spcPts val="600"/>
              </a:spcAft>
            </a:pPr>
            <a:r>
              <a:rPr sz="1600" b="0">
                <a:solidFill>
                  <a:srgbClr val="525A60"/>
                </a:solidFill>
                <a:latin typeface="Aptos"/>
              </a:rPr>
              <a:t>Plus: target-network sync, gradient clipping, plateau LR decay, and snapshotting every 1,000 games into 10 playable difficulty levels.</a:t>
            </a:r>
          </a:p>
        </p:txBody>
      </p:sp>
      <p:pic>
        <p:nvPicPr>
          <p:cNvPr id="13" name="Audio 12">
            <a:hlinkClick r:id="" action="ppaction://media"/>
            <a:extLst>
              <a:ext uri="{FF2B5EF4-FFF2-40B4-BE49-F238E27FC236}">
                <a16:creationId xmlns:a16="http://schemas.microsoft.com/office/drawing/2014/main" id="{164D2EED-F5BB-EC27-42B1-F2EC0DBFC5BE}"/>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76474"/>
    </mc:Choice>
    <mc:Fallback>
      <p:transition spd="slow" advTm="7647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Result: performance improves with experience</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combined_progress.png"/>
          <p:cNvPicPr>
            <a:picLocks noChangeAspect="1"/>
          </p:cNvPicPr>
          <p:nvPr/>
        </p:nvPicPr>
        <p:blipFill>
          <a:blip r:embed="rId5"/>
          <a:stretch>
            <a:fillRect/>
          </a:stretch>
        </p:blipFill>
        <p:spPr>
          <a:xfrm>
            <a:off x="457200" y="1554480"/>
            <a:ext cx="7315200" cy="4130936"/>
          </a:xfrm>
          <a:prstGeom prst="rect">
            <a:avLst/>
          </a:prstGeom>
        </p:spPr>
      </p:pic>
      <p:sp>
        <p:nvSpPr>
          <p:cNvPr id="5" name="TextBox 4"/>
          <p:cNvSpPr txBox="1"/>
          <p:nvPr/>
        </p:nvSpPr>
        <p:spPr>
          <a:xfrm>
            <a:off x="8138160" y="1737360"/>
            <a:ext cx="3657600" cy="1188720"/>
          </a:xfrm>
          <a:prstGeom prst="rect">
            <a:avLst/>
          </a:prstGeom>
          <a:noFill/>
        </p:spPr>
        <p:txBody>
          <a:bodyPr wrap="square">
            <a:spAutoFit/>
          </a:bodyPr>
          <a:lstStyle/>
          <a:p>
            <a:pPr algn="l">
              <a:spcAft>
                <a:spcPts val="0"/>
              </a:spcAft>
            </a:pPr>
            <a:r>
              <a:rPr sz="2600" b="1">
                <a:solidFill>
                  <a:srgbClr val="6C3D91"/>
                </a:solidFill>
                <a:latin typeface="Aptos"/>
              </a:rPr>
              <a:t>796 → 1190</a:t>
            </a:r>
          </a:p>
          <a:p>
            <a:pPr algn="l">
              <a:spcAft>
                <a:spcPts val="600"/>
              </a:spcAft>
            </a:pPr>
            <a:r>
              <a:rPr sz="1300" b="0">
                <a:solidFill>
                  <a:srgbClr val="525A60"/>
                </a:solidFill>
                <a:latin typeface="Aptos"/>
              </a:rPr>
              <a:t>Elo (monotone, +394)</a:t>
            </a:r>
          </a:p>
        </p:txBody>
      </p:sp>
      <p:sp>
        <p:nvSpPr>
          <p:cNvPr id="6" name="TextBox 5"/>
          <p:cNvSpPr txBox="1"/>
          <p:nvPr/>
        </p:nvSpPr>
        <p:spPr>
          <a:xfrm>
            <a:off x="8138160" y="3108960"/>
            <a:ext cx="3657600" cy="1188720"/>
          </a:xfrm>
          <a:prstGeom prst="rect">
            <a:avLst/>
          </a:prstGeom>
          <a:noFill/>
        </p:spPr>
        <p:txBody>
          <a:bodyPr wrap="square">
            <a:spAutoFit/>
          </a:bodyPr>
          <a:lstStyle/>
          <a:p>
            <a:pPr algn="l">
              <a:spcAft>
                <a:spcPts val="0"/>
              </a:spcAft>
            </a:pPr>
            <a:r>
              <a:rPr sz="2600" b="1">
                <a:solidFill>
                  <a:srgbClr val="00889C"/>
                </a:solidFill>
                <a:latin typeface="Aptos"/>
              </a:rPr>
              <a:t>52.5% → 100%</a:t>
            </a:r>
          </a:p>
          <a:p>
            <a:pPr algn="l">
              <a:spcAft>
                <a:spcPts val="600"/>
              </a:spcAft>
            </a:pPr>
            <a:r>
              <a:rPr sz="1300" b="0">
                <a:solidFill>
                  <a:srgbClr val="525A60"/>
                </a:solidFill>
                <a:latin typeface="Aptos"/>
              </a:rPr>
              <a:t>Win rate vs Random</a:t>
            </a:r>
          </a:p>
        </p:txBody>
      </p:sp>
      <p:sp>
        <p:nvSpPr>
          <p:cNvPr id="7" name="TextBox 6"/>
          <p:cNvSpPr txBox="1"/>
          <p:nvPr/>
        </p:nvSpPr>
        <p:spPr>
          <a:xfrm>
            <a:off x="8138160" y="4480560"/>
            <a:ext cx="3657600" cy="1188720"/>
          </a:xfrm>
          <a:prstGeom prst="rect">
            <a:avLst/>
          </a:prstGeom>
          <a:noFill/>
        </p:spPr>
        <p:txBody>
          <a:bodyPr wrap="square">
            <a:spAutoFit/>
          </a:bodyPr>
          <a:lstStyle/>
          <a:p>
            <a:pPr algn="l">
              <a:spcAft>
                <a:spcPts val="0"/>
              </a:spcAft>
            </a:pPr>
            <a:r>
              <a:rPr sz="2600" b="1">
                <a:solidFill>
                  <a:srgbClr val="6C3D91"/>
                </a:solidFill>
                <a:latin typeface="Aptos"/>
              </a:rPr>
              <a:t>46% → 100%</a:t>
            </a:r>
          </a:p>
          <a:p>
            <a:pPr algn="l">
              <a:spcAft>
                <a:spcPts val="600"/>
              </a:spcAft>
            </a:pPr>
            <a:r>
              <a:rPr sz="1300" b="0">
                <a:solidFill>
                  <a:srgbClr val="525A60"/>
                </a:solidFill>
                <a:latin typeface="Aptos"/>
              </a:rPr>
              <a:t>Win rate vs Heuristic</a:t>
            </a:r>
          </a:p>
        </p:txBody>
      </p:sp>
      <p:pic>
        <p:nvPicPr>
          <p:cNvPr id="10" name="Audio 9">
            <a:hlinkClick r:id="" action="ppaction://media"/>
            <a:extLst>
              <a:ext uri="{FF2B5EF4-FFF2-40B4-BE49-F238E27FC236}">
                <a16:creationId xmlns:a16="http://schemas.microsoft.com/office/drawing/2014/main" id="{344FBF0B-C34B-5E19-C858-60A8583F6A4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7234"/>
    </mc:Choice>
    <mc:Fallback>
      <p:transition spd="slow" advTm="272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The decisive test: beating a 4-ply search</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benchmark_vs_alphabeta.png"/>
          <p:cNvPicPr>
            <a:picLocks noChangeAspect="1"/>
          </p:cNvPicPr>
          <p:nvPr/>
        </p:nvPicPr>
        <p:blipFill>
          <a:blip r:embed="rId5"/>
          <a:stretch>
            <a:fillRect/>
          </a:stretch>
        </p:blipFill>
        <p:spPr>
          <a:xfrm>
            <a:off x="457200" y="1554480"/>
            <a:ext cx="7315200" cy="4114800"/>
          </a:xfrm>
          <a:prstGeom prst="rect">
            <a:avLst/>
          </a:prstGeom>
        </p:spPr>
      </p:pic>
      <p:sp>
        <p:nvSpPr>
          <p:cNvPr id="5" name="TextBox 4"/>
          <p:cNvSpPr txBox="1"/>
          <p:nvPr/>
        </p:nvSpPr>
        <p:spPr>
          <a:xfrm>
            <a:off x="8138160" y="1737360"/>
            <a:ext cx="3657600" cy="4114800"/>
          </a:xfrm>
          <a:prstGeom prst="rect">
            <a:avLst/>
          </a:prstGeom>
          <a:noFill/>
        </p:spPr>
        <p:txBody>
          <a:bodyPr wrap="square">
            <a:spAutoFit/>
          </a:bodyPr>
          <a:lstStyle/>
          <a:p>
            <a:pPr algn="l">
              <a:spcAft>
                <a:spcPts val="200"/>
              </a:spcAft>
            </a:pPr>
            <a:r>
              <a:rPr sz="1800" b="1">
                <a:solidFill>
                  <a:srgbClr val="6C3D91"/>
                </a:solidFill>
                <a:latin typeface="Aptos"/>
              </a:rPr>
              <a:t>vs Alpha-Beta depth-4</a:t>
            </a:r>
          </a:p>
          <a:p>
            <a:pPr algn="l">
              <a:spcAft>
                <a:spcPts val="1600"/>
              </a:spcAft>
            </a:pPr>
            <a:r>
              <a:rPr sz="1300" b="0">
                <a:solidFill>
                  <a:srgbClr val="525A60"/>
                </a:solidFill>
                <a:latin typeface="Aptos"/>
              </a:rPr>
              <a:t>an opponent the agent NEVER trains against</a:t>
            </a:r>
          </a:p>
          <a:p>
            <a:pPr algn="l">
              <a:spcAft>
                <a:spcPts val="0"/>
              </a:spcAft>
            </a:pPr>
            <a:r>
              <a:rPr sz="2400" b="1">
                <a:solidFill>
                  <a:srgbClr val="00889C"/>
                </a:solidFill>
                <a:latin typeface="Aptos"/>
              </a:rPr>
              <a:t>19% → 100%</a:t>
            </a:r>
          </a:p>
          <a:p>
            <a:pPr algn="l">
              <a:spcAft>
                <a:spcPts val="1600"/>
              </a:spcAft>
            </a:pPr>
            <a:r>
              <a:rPr sz="1300" b="0">
                <a:solidFill>
                  <a:srgbClr val="525A60"/>
                </a:solidFill>
                <a:latin typeface="Aptos"/>
              </a:rPr>
              <a:t>win rate</a:t>
            </a:r>
          </a:p>
          <a:p>
            <a:pPr algn="l">
              <a:spcAft>
                <a:spcPts val="0"/>
              </a:spcAft>
            </a:pPr>
            <a:r>
              <a:rPr sz="2400" b="1">
                <a:solidFill>
                  <a:srgbClr val="6C3D91"/>
                </a:solidFill>
                <a:latin typeface="Aptos"/>
              </a:rPr>
              <a:t>−0.83 → +1.17</a:t>
            </a:r>
          </a:p>
          <a:p>
            <a:pPr algn="l">
              <a:spcAft>
                <a:spcPts val="1600"/>
              </a:spcAft>
            </a:pPr>
            <a:r>
              <a:rPr sz="1300" b="0">
                <a:solidFill>
                  <a:srgbClr val="525A60"/>
                </a:solidFill>
                <a:latin typeface="Aptos"/>
              </a:rPr>
              <a:t>mean score margin (sign flips)</a:t>
            </a:r>
          </a:p>
          <a:p>
            <a:pPr algn="l">
              <a:spcAft>
                <a:spcPts val="600"/>
              </a:spcAft>
            </a:pPr>
            <a:r>
              <a:rPr sz="1300" b="0">
                <a:solidFill>
                  <a:srgbClr val="222222"/>
                </a:solidFill>
                <a:latin typeface="Aptos"/>
              </a:rPr>
              <a:t>Winning by a margin against an independent search = genuine generalisation, not memorisation.</a:t>
            </a:r>
          </a:p>
        </p:txBody>
      </p:sp>
      <p:pic>
        <p:nvPicPr>
          <p:cNvPr id="8" name="Audio 7">
            <a:hlinkClick r:id="" action="ppaction://media"/>
            <a:extLst>
              <a:ext uri="{FF2B5EF4-FFF2-40B4-BE49-F238E27FC236}">
                <a16:creationId xmlns:a16="http://schemas.microsoft.com/office/drawing/2014/main" id="{A7F44A58-9D7C-DCCD-150B-43DB4547C9C8}"/>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5299"/>
    </mc:Choice>
    <mc:Fallback>
      <p:transition spd="slow" advTm="252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a:solidFill>
                  <a:srgbClr val="6C3D91"/>
                </a:solidFill>
                <a:latin typeface="Aptos Display"/>
              </a:rPr>
              <a:t>Critical analysis</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CRITICAL THINKING</a:t>
            </a:r>
          </a:p>
        </p:txBody>
      </p:sp>
      <p:sp>
        <p:nvSpPr>
          <p:cNvPr id="4" name="Rectangle 3"/>
          <p:cNvSpPr/>
          <p:nvPr/>
        </p:nvSpPr>
        <p:spPr>
          <a:xfrm>
            <a:off x="548640" y="1645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822960" y="1645920"/>
            <a:ext cx="5212080" cy="1343958"/>
          </a:xfrm>
          <a:prstGeom prst="rect">
            <a:avLst/>
          </a:prstGeom>
          <a:noFill/>
        </p:spPr>
        <p:txBody>
          <a:bodyPr wrap="square">
            <a:spAutoFit/>
          </a:bodyPr>
          <a:lstStyle/>
          <a:p>
            <a:pPr algn="l">
              <a:spcAft>
                <a:spcPts val="400"/>
              </a:spcAft>
            </a:pPr>
            <a:r>
              <a:rPr sz="2400" b="1">
                <a:solidFill>
                  <a:srgbClr val="6C3D91"/>
                </a:solidFill>
                <a:latin typeface="Aptos"/>
              </a:rPr>
              <a:t>Model</a:t>
            </a:r>
          </a:p>
          <a:p>
            <a:pPr algn="l">
              <a:spcAft>
                <a:spcPts val="600"/>
              </a:spcAft>
            </a:pPr>
            <a:r>
              <a:rPr b="0">
                <a:solidFill>
                  <a:srgbClr val="222222"/>
                </a:solidFill>
                <a:latin typeface="Aptos"/>
              </a:rPr>
              <a:t>Residual CNN matches local line patterns; tactical channels free the network to weigh threats, not relearn rules.</a:t>
            </a:r>
          </a:p>
        </p:txBody>
      </p:sp>
      <p:sp>
        <p:nvSpPr>
          <p:cNvPr id="6" name="Rectangle 5"/>
          <p:cNvSpPr/>
          <p:nvPr/>
        </p:nvSpPr>
        <p:spPr>
          <a:xfrm>
            <a:off x="6126480" y="1645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6400800" y="1645920"/>
            <a:ext cx="5212080" cy="1343958"/>
          </a:xfrm>
          <a:prstGeom prst="rect">
            <a:avLst/>
          </a:prstGeom>
          <a:noFill/>
        </p:spPr>
        <p:txBody>
          <a:bodyPr wrap="square">
            <a:spAutoFit/>
          </a:bodyPr>
          <a:lstStyle/>
          <a:p>
            <a:pPr algn="l">
              <a:spcAft>
                <a:spcPts val="400"/>
              </a:spcAft>
            </a:pPr>
            <a:r>
              <a:rPr sz="2400" b="1">
                <a:solidFill>
                  <a:srgbClr val="00889C"/>
                </a:solidFill>
                <a:latin typeface="Aptos"/>
              </a:rPr>
              <a:t>Method</a:t>
            </a:r>
          </a:p>
          <a:p>
            <a:pPr algn="l">
              <a:spcAft>
                <a:spcPts val="600"/>
              </a:spcAft>
            </a:pPr>
            <a:r>
              <a:rPr b="0">
                <a:solidFill>
                  <a:srgbClr val="222222"/>
                </a:solidFill>
                <a:latin typeface="Aptos"/>
              </a:rPr>
              <a:t>Negamax target keeps the value function coherent; Double-DQN + Huber explain the stable, collapse-free convergence.</a:t>
            </a:r>
          </a:p>
        </p:txBody>
      </p:sp>
      <p:sp>
        <p:nvSpPr>
          <p:cNvPr id="8" name="Rectangle 7"/>
          <p:cNvSpPr/>
          <p:nvPr/>
        </p:nvSpPr>
        <p:spPr>
          <a:xfrm>
            <a:off x="548640" y="3931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3931920"/>
            <a:ext cx="5212080" cy="1343958"/>
          </a:xfrm>
          <a:prstGeom prst="rect">
            <a:avLst/>
          </a:prstGeom>
          <a:noFill/>
        </p:spPr>
        <p:txBody>
          <a:bodyPr wrap="square">
            <a:spAutoFit/>
          </a:bodyPr>
          <a:lstStyle/>
          <a:p>
            <a:pPr algn="l">
              <a:spcAft>
                <a:spcPts val="400"/>
              </a:spcAft>
            </a:pPr>
            <a:r>
              <a:rPr sz="2400" b="1" dirty="0">
                <a:solidFill>
                  <a:srgbClr val="6C3D91"/>
                </a:solidFill>
                <a:latin typeface="Aptos"/>
              </a:rPr>
              <a:t>Results</a:t>
            </a:r>
          </a:p>
          <a:p>
            <a:pPr algn="l">
              <a:spcAft>
                <a:spcPts val="600"/>
              </a:spcAft>
            </a:pPr>
            <a:r>
              <a:rPr b="0" dirty="0">
                <a:solidFill>
                  <a:srgbClr val="222222"/>
                </a:solidFill>
                <a:latin typeface="Aptos"/>
              </a:rPr>
              <a:t>Win rates saturate at 100% </a:t>
            </a:r>
            <a:r>
              <a:rPr lang="en-US" dirty="0">
                <a:solidFill>
                  <a:srgbClr val="222222"/>
                </a:solidFill>
                <a:latin typeface="Aptos"/>
              </a:rPr>
              <a:t>- </a:t>
            </a:r>
            <a:r>
              <a:rPr b="0" dirty="0">
                <a:solidFill>
                  <a:srgbClr val="222222"/>
                </a:solidFill>
                <a:latin typeface="Aptos"/>
              </a:rPr>
              <a:t>Elo keeps resolving improvement; the per-snapshot noise is why Elo is the headline.</a:t>
            </a:r>
          </a:p>
        </p:txBody>
      </p:sp>
      <p:sp>
        <p:nvSpPr>
          <p:cNvPr id="10" name="Rectangle 9"/>
          <p:cNvSpPr/>
          <p:nvPr/>
        </p:nvSpPr>
        <p:spPr>
          <a:xfrm>
            <a:off x="6126480" y="3931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6400800" y="3931920"/>
            <a:ext cx="5212080" cy="1343958"/>
          </a:xfrm>
          <a:prstGeom prst="rect">
            <a:avLst/>
          </a:prstGeom>
          <a:noFill/>
        </p:spPr>
        <p:txBody>
          <a:bodyPr wrap="square">
            <a:spAutoFit/>
          </a:bodyPr>
          <a:lstStyle/>
          <a:p>
            <a:pPr algn="l">
              <a:spcAft>
                <a:spcPts val="400"/>
              </a:spcAft>
            </a:pPr>
            <a:r>
              <a:rPr sz="2400" b="1" dirty="0">
                <a:solidFill>
                  <a:srgbClr val="00889C"/>
                </a:solidFill>
                <a:latin typeface="Aptos"/>
              </a:rPr>
              <a:t>Improve</a:t>
            </a:r>
          </a:p>
          <a:p>
            <a:pPr algn="l">
              <a:spcAft>
                <a:spcPts val="600"/>
              </a:spcAft>
            </a:pPr>
            <a:r>
              <a:rPr b="0" dirty="0">
                <a:solidFill>
                  <a:srgbClr val="222222"/>
                </a:solidFill>
                <a:latin typeface="Aptos"/>
              </a:rPr>
              <a:t>Multi-seed bands, n-step returns, an AlphaZero-style policy + MCTS head, and a deeper benchmark.</a:t>
            </a:r>
          </a:p>
        </p:txBody>
      </p:sp>
      <p:pic>
        <p:nvPicPr>
          <p:cNvPr id="14" name="Audio 13">
            <a:hlinkClick r:id="" action="ppaction://media"/>
            <a:extLst>
              <a:ext uri="{FF2B5EF4-FFF2-40B4-BE49-F238E27FC236}">
                <a16:creationId xmlns:a16="http://schemas.microsoft.com/office/drawing/2014/main" id="{091B0C42-8618-20E3-D3DC-06B1AF7B5A69}"/>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mc:Choice xmlns:p14="http://schemas.microsoft.com/office/powerpoint/2010/main" Requires="p14">
      <p:transition spd="slow" p14:dur="2000" advTm="28050"/>
    </mc:Choice>
    <mc:Fallback>
      <p:transition spd="slow" advTm="28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6C3D91"/>
                </a:solidFill>
                <a:latin typeface="Aptos Display"/>
              </a:rPr>
              <a:t>A self-play DQN learned an original board game</a:t>
            </a:r>
            <a:r>
              <a:rPr lang="en-ZA" sz="2400" b="1" dirty="0">
                <a:solidFill>
                  <a:srgbClr val="6C3D91"/>
                </a:solidFill>
                <a:latin typeface="Aptos Display"/>
              </a:rPr>
              <a:t>, </a:t>
            </a:r>
            <a:r>
              <a:rPr sz="2400" b="1" dirty="0">
                <a:solidFill>
                  <a:srgbClr val="6C3D91"/>
                </a:solidFill>
                <a:latin typeface="Aptos Display"/>
              </a:rPr>
              <a:t>from a blank slate to out-playing a 4-ply search</a:t>
            </a:r>
          </a:p>
        </p:txBody>
      </p:sp>
      <p:sp>
        <p:nvSpPr>
          <p:cNvPr id="4" name="TextBox 3"/>
          <p:cNvSpPr txBox="1"/>
          <p:nvPr/>
        </p:nvSpPr>
        <p:spPr>
          <a:xfrm>
            <a:off x="731520"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1,190</a:t>
            </a:r>
          </a:p>
          <a:p>
            <a:pPr algn="ctr">
              <a:spcAft>
                <a:spcPts val="600"/>
              </a:spcAft>
            </a:pPr>
            <a:r>
              <a:rPr sz="1400" b="0">
                <a:solidFill>
                  <a:srgbClr val="525A60"/>
                </a:solidFill>
                <a:latin typeface="Aptos"/>
              </a:rPr>
              <a:t>final Elo</a:t>
            </a:r>
          </a:p>
        </p:txBody>
      </p:sp>
      <p:sp>
        <p:nvSpPr>
          <p:cNvPr id="5" name="TextBox 4"/>
          <p:cNvSpPr txBox="1"/>
          <p:nvPr/>
        </p:nvSpPr>
        <p:spPr>
          <a:xfrm>
            <a:off x="4480559"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a:t>
            </a:r>
          </a:p>
          <a:p>
            <a:pPr algn="ctr">
              <a:spcAft>
                <a:spcPts val="600"/>
              </a:spcAft>
            </a:pPr>
            <a:r>
              <a:rPr sz="1400" b="0">
                <a:solidFill>
                  <a:srgbClr val="525A60"/>
                </a:solidFill>
                <a:latin typeface="Aptos"/>
              </a:rPr>
              <a:t>vs Random, Heuristic &amp; AB-d4</a:t>
            </a:r>
          </a:p>
        </p:txBody>
      </p:sp>
      <p:sp>
        <p:nvSpPr>
          <p:cNvPr id="6" name="TextBox 5"/>
          <p:cNvSpPr txBox="1"/>
          <p:nvPr/>
        </p:nvSpPr>
        <p:spPr>
          <a:xfrm>
            <a:off x="8229598"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10,000</a:t>
            </a:r>
          </a:p>
          <a:p>
            <a:pPr algn="ctr">
              <a:spcAft>
                <a:spcPts val="600"/>
              </a:spcAft>
            </a:pPr>
            <a:r>
              <a:rPr sz="1400" b="0">
                <a:solidFill>
                  <a:srgbClr val="525A60"/>
                </a:solidFill>
                <a:latin typeface="Aptos"/>
              </a:rPr>
              <a:t>self-play games</a:t>
            </a:r>
          </a:p>
        </p:txBody>
      </p:sp>
      <p:sp>
        <p:nvSpPr>
          <p:cNvPr id="7" name="TextBox 6"/>
          <p:cNvSpPr txBox="1"/>
          <p:nvPr/>
        </p:nvSpPr>
        <p:spPr>
          <a:xfrm>
            <a:off x="731520" y="4297680"/>
            <a:ext cx="10698480" cy="682238"/>
          </a:xfrm>
          <a:prstGeom prst="rect">
            <a:avLst/>
          </a:prstGeom>
          <a:noFill/>
        </p:spPr>
        <p:txBody>
          <a:bodyPr wrap="square">
            <a:spAutoFit/>
          </a:bodyPr>
          <a:lstStyle/>
          <a:p>
            <a:pPr algn="ctr">
              <a:spcAft>
                <a:spcPts val="1000"/>
              </a:spcAft>
            </a:pPr>
            <a:r>
              <a:rPr lang="en-ZA" sz="1600" b="0" dirty="0">
                <a:solidFill>
                  <a:srgbClr val="222222"/>
                </a:solidFill>
                <a:latin typeface="Aptos"/>
              </a:rPr>
              <a:t>The </a:t>
            </a:r>
            <a:r>
              <a:rPr sz="1600" b="0" dirty="0">
                <a:solidFill>
                  <a:srgbClr val="222222"/>
                </a:solidFill>
                <a:latin typeface="Aptos"/>
              </a:rPr>
              <a:t>performance improves with experience. Every result is reproducible from the logged data with one command.</a:t>
            </a:r>
          </a:p>
          <a:p>
            <a:pPr algn="ctr">
              <a:spcAft>
                <a:spcPts val="600"/>
              </a:spcAft>
            </a:pPr>
            <a:r>
              <a:rPr sz="1400" b="0" dirty="0">
                <a:solidFill>
                  <a:srgbClr val="00889C"/>
                </a:solidFill>
                <a:latin typeface="Aptos"/>
              </a:rPr>
              <a:t>python -m </a:t>
            </a:r>
            <a:r>
              <a:rPr sz="1400" b="0" dirty="0" err="1">
                <a:solidFill>
                  <a:srgbClr val="00889C"/>
                </a:solidFill>
                <a:latin typeface="Aptos"/>
              </a:rPr>
              <a:t>src.training.train</a:t>
            </a:r>
            <a:r>
              <a:rPr sz="1400" b="0" dirty="0">
                <a:solidFill>
                  <a:srgbClr val="00889C"/>
                </a:solidFill>
                <a:latin typeface="Aptos"/>
              </a:rPr>
              <a:t> --games 10000 --size 8 --benchmark alphabeta_d4</a:t>
            </a:r>
          </a:p>
        </p:txBody>
      </p:sp>
      <p:sp>
        <p:nvSpPr>
          <p:cNvPr id="8" name="TextBox 7"/>
          <p:cNvSpPr txBox="1"/>
          <p:nvPr/>
        </p:nvSpPr>
        <p:spPr>
          <a:xfrm>
            <a:off x="731520" y="5669280"/>
            <a:ext cx="10698480" cy="338554"/>
          </a:xfrm>
          <a:prstGeom prst="rect">
            <a:avLst/>
          </a:prstGeom>
          <a:noFill/>
        </p:spPr>
        <p:txBody>
          <a:bodyPr wrap="square">
            <a:spAutoFit/>
          </a:bodyPr>
          <a:lstStyle/>
          <a:p>
            <a:pPr algn="ctr">
              <a:spcAft>
                <a:spcPts val="600"/>
              </a:spcAft>
            </a:pPr>
            <a:r>
              <a:rPr sz="1600" b="1" dirty="0">
                <a:solidFill>
                  <a:srgbClr val="6C3D91"/>
                </a:solidFill>
                <a:latin typeface="Aptos"/>
              </a:rPr>
              <a:t>Thank you</a:t>
            </a:r>
          </a:p>
        </p:txBody>
      </p:sp>
    </p:spTree>
  </p:cSld>
  <p:clrMapOvr>
    <a:masterClrMapping/>
  </p:clrMapOvr>
  <mc:AlternateContent xmlns:mc="http://schemas.openxmlformats.org/markup-compatibility/2006">
    <mc:Choice xmlns:p14="http://schemas.microsoft.com/office/powerpoint/2010/main" Requires="p14">
      <p:transition spd="slow" p14:dur="2000" advTm="32"/>
    </mc:Choice>
    <mc:Fallback>
      <p:transition spd="slow" advTm="32"/>
    </mc:Fallback>
  </mc:AlternateContent>
</p:sld>
</file>

<file path=ppt/theme/theme1.xml><?xml version="1.0" encoding="utf-8"?>
<a:theme xmlns:a="http://schemas.openxmlformats.org/drawingml/2006/main" name="Office Theme">
  <a:themeElements>
    <a:clrScheme name="NWU colors">
      <a:dk1>
        <a:srgbClr val="6C3D91"/>
      </a:dk1>
      <a:lt1>
        <a:sysClr val="window" lastClr="FFFFFF"/>
      </a:lt1>
      <a:dk2>
        <a:srgbClr val="00889C"/>
      </a:dk2>
      <a:lt2>
        <a:srgbClr val="78848E"/>
      </a:lt2>
      <a:accent1>
        <a:srgbClr val="5F439A"/>
      </a:accent1>
      <a:accent2>
        <a:srgbClr val="036F77"/>
      </a:accent2>
      <a:accent3>
        <a:srgbClr val="78848E"/>
      </a:accent3>
      <a:accent4>
        <a:srgbClr val="C9CDD1"/>
      </a:accent4>
      <a:accent5>
        <a:srgbClr val="B8F5FF"/>
      </a:accent5>
      <a:accent6>
        <a:srgbClr val="525A60"/>
      </a:accent6>
      <a:hlink>
        <a:srgbClr val="00889C"/>
      </a:hlink>
      <a:folHlink>
        <a:srgbClr val="5F439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WU_PPT_07" id="{513CC988-A299-4A5D-9630-3F3A67E2EF10}" vid="{CD618A1F-5143-4359-AEDD-D125CCE698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14d86f1-83ba-4b13-a702-b5c0231b9337}" enabled="0" method="" siteId="{b14d86f1-83ba-4b13-a702-b5c0231b9337}" removed="1"/>
</clbl:labelList>
</file>

<file path=docProps/app.xml><?xml version="1.0" encoding="utf-8"?>
<Properties xmlns="http://schemas.openxmlformats.org/officeDocument/2006/extended-properties" xmlns:vt="http://schemas.openxmlformats.org/officeDocument/2006/docPropsVTypes">
  <Template/>
  <TotalTime>515</TotalTime>
  <Words>3079</Words>
  <Application>Microsoft Office PowerPoint</Application>
  <PresentationFormat>Widescreen</PresentationFormat>
  <Paragraphs>131</Paragraphs>
  <Slides>9</Slides>
  <Notes>9</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C_lines</vt:lpstr>
      <vt:lpstr>The game: C_lines on an 8×8 board</vt:lpstr>
      <vt:lpstr>The learning problem</vt:lpstr>
      <vt:lpstr>The algorithm: a self-play Deep Q-Network</vt:lpstr>
      <vt:lpstr>Three implementation choices that make it work</vt:lpstr>
      <vt:lpstr>Result: performance improves with experience</vt:lpstr>
      <vt:lpstr>The decisive test: beating a 4-ply search</vt:lpstr>
      <vt:lpstr>Critical analysis</vt:lpstr>
      <vt:lpstr>A self-play DQN learned an original board game, from a blank slate to out-playing a 4-ply 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Tshegofatso Lekabye</dc:creator>
  <cp:lastModifiedBy>colile s</cp:lastModifiedBy>
  <cp:revision>21</cp:revision>
  <dcterms:created xsi:type="dcterms:W3CDTF">2025-02-04T06:41:40Z</dcterms:created>
  <dcterms:modified xsi:type="dcterms:W3CDTF">2026-06-07T19:44:39Z</dcterms:modified>
</cp:coreProperties>
</file>