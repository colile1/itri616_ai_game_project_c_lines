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oard_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234440"/>
            <a:ext cx="3840480" cy="384048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GAME · SELF-PLAY REINFORCEMENT LEARNING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17830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C_lines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640080" y="2971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an agent an original board game — and proving it improves with experience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41605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Colile Sibanda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FC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North-West University · ITRI 616 — Artificial Intelligence 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 board · points-until-full · run_pts_002 (10,000 self-play games)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game: C_lines on an 8×8 board</a:t>
            </a:r>
            <a:endParaRPr lang="en-US" sz="3000" dirty="0"/>
          </a:p>
        </p:txBody>
      </p:sp>
      <p:pic>
        <p:nvPicPr>
          <p:cNvPr id="4" name="Image 0" descr="board_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4206240" cy="420624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0080" y="5897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= a scoring line of four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303520" y="1691640"/>
            <a:ext cx="6309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04688" y="1911096"/>
            <a:ext cx="347472" cy="347472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8" name="Text 5"/>
          <p:cNvSpPr/>
          <p:nvPr/>
        </p:nvSpPr>
        <p:spPr>
          <a:xfrm>
            <a:off x="5504688" y="1911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035040" y="1746504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placement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alternate, placing one stone on ANY empty cell — no gravity, no column rule.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03520" y="2560320"/>
            <a:ext cx="6309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04688" y="2779776"/>
            <a:ext cx="347472" cy="347472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12" name="Text 9"/>
          <p:cNvSpPr/>
          <p:nvPr/>
        </p:nvSpPr>
        <p:spPr>
          <a:xfrm>
            <a:off x="5504688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035040" y="2615184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fills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continues until all 64 cells are filled.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303520" y="3429000"/>
            <a:ext cx="6309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04688" y="3648456"/>
            <a:ext cx="347472" cy="347472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16" name="Text 13"/>
          <p:cNvSpPr/>
          <p:nvPr/>
        </p:nvSpPr>
        <p:spPr>
          <a:xfrm>
            <a:off x="5504688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035040" y="3483864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scoring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for straight runs (any direction) of length 3–8; longer lines worth far more (3→0.25 … 8→5.0).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303520" y="4297680"/>
            <a:ext cx="6309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04688" y="4517136"/>
            <a:ext cx="347472" cy="347472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20" name="Text 17"/>
          <p:cNvSpPr/>
          <p:nvPr/>
        </p:nvSpPr>
        <p:spPr>
          <a:xfrm>
            <a:off x="5504688" y="4517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035040" y="4352544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condition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total score when the board fills wins; a tie-break removes draws.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303520" y="5166360"/>
            <a:ext cx="6309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04688" y="5385816"/>
            <a:ext cx="347472" cy="3474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Text 21"/>
          <p:cNvSpPr/>
          <p:nvPr/>
        </p:nvSpPr>
        <p:spPr>
          <a:xfrm>
            <a:off x="5504688" y="5385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035040" y="5221224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opening moves; must build your lines AND block the opponent over a 64-move horizon.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C_lines · ITRI 616 · Colile Sibanda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· EXPERIENCE ·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learning problem — TEP framework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3657600" cy="82296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938528"/>
            <a:ext cx="512064" cy="51206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1783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2834640"/>
            <a:ext cx="30723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placement that maximises the final score margin (own − opponent). Category: sequential DECISION-MAKING / CONTROL — not classification, not prediction.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53712" y="178308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1783080"/>
            <a:ext cx="3657600" cy="82296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2" name="Shape 10"/>
          <p:cNvSpPr/>
          <p:nvPr/>
        </p:nvSpPr>
        <p:spPr>
          <a:xfrm>
            <a:off x="4828032" y="1938528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68112" y="1783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30723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Self-generated games: a short warm-up vs Random &amp; Heuristic, then SELF-PLAY against frozen past versions. As the agent improves, so do its opponents — an automatic curriculum.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467344" y="178308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67344" y="1783080"/>
            <a:ext cx="3657600" cy="82296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8" name="Shape 16"/>
          <p:cNvSpPr/>
          <p:nvPr/>
        </p:nvSpPr>
        <p:spPr>
          <a:xfrm>
            <a:off x="8741664" y="1938528"/>
            <a:ext cx="512064" cy="51206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8741664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381744" y="1783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759952" y="2834640"/>
            <a:ext cx="30723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metrics, every 100 games: win rate vs Random, vs Heuristic, an Elo rating, and win rate vs a 4-ply Alpha-Beta search.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the assignment: demonstrate that performance improves with experience.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C_lines · ITRI 616 · Colile Sibanda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algorithm: a self-play Deep Q-Network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91440" cy="1188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10-channel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state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08960" y="182880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56432" y="18288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56432" y="1828800"/>
            <a:ext cx="91440" cy="118872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18288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CNN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blocks, 64ch)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25312" y="182880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72784" y="18288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72784" y="1828800"/>
            <a:ext cx="91440" cy="118872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6455664" y="18288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Q-value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cell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741664" y="182880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89136" y="18288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89136" y="1828800"/>
            <a:ext cx="91440" cy="1188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9272016" y="18288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31272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loop: transitions stored in a replay buffer feed gradient updates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3767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DQN?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416052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control with delayed reward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move's value only emerges when the board fills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Q-learning's TD target is built for this credit assignment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labelled 'correct' moves exist for an original game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36118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3767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 design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4160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delta-score shaping: change in (own − opponent) score each move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terminal ±1 for win / loss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aligned with the objective — every step points to the same goal as the outcome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C_lines · ITRI 616 · Colile Sibanda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implementation choices that made it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728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128016" cy="12070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11096"/>
            <a:ext cx="3291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Negamax value target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1892808"/>
            <a:ext cx="7086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position is the OPPONENT's, so the bootstrap is subtracted, not added:  target = r − γ·max Q(s′). The single most important correctness detail.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109728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154680"/>
            <a:ext cx="128016" cy="12070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282696"/>
            <a:ext cx="3291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DQN + Huber loss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43400" y="3264408"/>
            <a:ext cx="7086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net selects the action, target net evaluates it — cutting overestimation. Huber loss keeps updates stable against large TD errors.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109728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526280"/>
            <a:ext cx="128016" cy="1207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654296"/>
            <a:ext cx="3291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D4 symmetry augmentation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43400" y="4636008"/>
            <a:ext cx="7086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board is also 7 rotations/reflections — multiplying training data eightfold for free.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target-network sync, gradient clipping, plateau LR decay, and snapshotting every 1,000 games into 10 playable difficulty levels.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C_lines · ITRI 616 · Colile Sibanda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Result: performance improves with experience</a:t>
            </a:r>
            <a:endParaRPr lang="en-US" sz="3000" dirty="0"/>
          </a:p>
        </p:txBody>
      </p:sp>
      <p:pic>
        <p:nvPicPr>
          <p:cNvPr id="4" name="Image 0" descr="combined_prog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589520" cy="429768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366760" y="1737360"/>
            <a:ext cx="32461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366760" y="1737360"/>
            <a:ext cx="109728" cy="12801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Text 4"/>
          <p:cNvSpPr/>
          <p:nvPr/>
        </p:nvSpPr>
        <p:spPr>
          <a:xfrm>
            <a:off x="8595360" y="188366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796 → 1190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59536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(monotone, +394)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66760" y="3200400"/>
            <a:ext cx="32461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366760" y="3200400"/>
            <a:ext cx="109728" cy="1280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8"/>
          <p:cNvSpPr/>
          <p:nvPr/>
        </p:nvSpPr>
        <p:spPr>
          <a:xfrm>
            <a:off x="8595360" y="334670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53% → 100%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595360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vs Random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366760" y="4663440"/>
            <a:ext cx="32461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366760" y="4663440"/>
            <a:ext cx="109728" cy="1280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2"/>
          <p:cNvSpPr/>
          <p:nvPr/>
        </p:nvSpPr>
        <p:spPr>
          <a:xfrm>
            <a:off x="8595360" y="480974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46% → 100%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595360" y="5440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vs Heuristic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C_lines · ITRI 616 · Colile Sibanda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decisive test: beating a 4-ply search</a:t>
            </a:r>
            <a:endParaRPr lang="en-US" sz="3000" dirty="0"/>
          </a:p>
        </p:txBody>
      </p:sp>
      <p:pic>
        <p:nvPicPr>
          <p:cNvPr id="4" name="Image 0" descr="benchmark_vs_alphab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589520" cy="429768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366760" y="1737360"/>
            <a:ext cx="3246120" cy="4160520"/>
          </a:xfrm>
          <a:prstGeom prst="roundRect">
            <a:avLst>
              <a:gd name="adj" fmla="val 2254"/>
            </a:avLst>
          </a:prstGeom>
          <a:solidFill>
            <a:srgbClr val="0F254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95360" y="1965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Alpha-Beta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depth-4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95360" y="2743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opponent the agent NEVER trains against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95360" y="338328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→ 100%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−0.83 → +1.17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margin (sign flips)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C_lines · ITRI 616 · Colile Sibanda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difficulty level is a stage of learning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15600" cy="3108960"/>
        </p:xfrm>
        <a:graphic>
          <a:graphicData uri="http://schemas.openxmlformats.org/drawingml/2006/table">
            <a:tbl>
              <a:tblPr/>
              <a:tblGrid>
                <a:gridCol w="2834640"/>
                <a:gridCol w="1920240"/>
                <a:gridCol w="1920240"/>
                <a:gridCol w="192024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 vs Random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 vs Heuristic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gen_002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gen_004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gen_007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gen_010 (final)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 assigns each snapshot's difficulty from its measured Elo — so a 'harder' level is literally a later stage of learning.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C_lines · ITRI 616 · Colile Sibanda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118872" cy="1920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476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it well-posed?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by design. The reward (score margin) IS the win condition, so there's no gap between training and grading.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783080"/>
            <a:ext cx="118872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9476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it improve?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4688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Unambiguously — all four metrics rise TOGETHER, the signature of real learning, not noise.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886200"/>
            <a:ext cx="118872" cy="1920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0507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Assumptions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information, deterministic placement, self-play as a sufficient curriculum, Markov state.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8862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3886200"/>
            <a:ext cx="118872" cy="19202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0507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8368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configuration; single seed (no variance band); depth-4 isn't perfect play; per-snapshot WR is noisy — hence Elo as the headline.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C_lines · ITRI 616 · Colile Sibanda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project taught 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201168" cy="20116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7830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Correctness beats complexity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203704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part wasn't the engineering — it was getting the two-player value target right. A subtle error in the objective is more damaging, and harder to spot, than any missing feature: the code runs, the loss falls, it just learns the wrong thing.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401568"/>
            <a:ext cx="201168" cy="20116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26440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Measurement is part of the method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3685032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is noisy and saturates. Adopting Elo as the primary metric gave me one smooth curve I could trust. I now decide how I'll measure before I train.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882896"/>
            <a:ext cx="201168" cy="20116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74573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discipline pays off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5166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 file, full CSV logging, a snapshot registry — so when it finally worked I could prove it with reproducible figures, regenerable with one command.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C_lines · ITRI 616 · Colile Sibanda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self-play DQN learned an original board game from a blank slate to out-playing a 4-ply search — clear, quantitative evidence that performance improves with experience.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379476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13304F"/>
          </a:solidFill>
          <a:ln w="12700">
            <a:solidFill>
              <a:srgbClr val="1E45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1,190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4498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Elo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379476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13304F"/>
          </a:solidFill>
          <a:ln w="12700">
            <a:solidFill>
              <a:srgbClr val="1E45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17720" y="4498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Random, Heuristic &amp; AB-d4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379476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13304F"/>
          </a:solidFill>
          <a:ln w="12700">
            <a:solidFill>
              <a:srgbClr val="1E45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366760" y="4498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self-play games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Reproduce:  python -m src.training.train --games 10000 --size 8 --benchmark alphabeta_d4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 welcome.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C_lines · ITRI 616 · Colile Sibanda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C_lines — Self-Play RL Agent</dc:title>
  <dc:subject>PptxGenJS Presentation</dc:subject>
  <dc:creator>Colile Sibanda</dc:creator>
  <cp:lastModifiedBy>Colile Sibanda</cp:lastModifiedBy>
  <cp:revision>1</cp:revision>
  <dcterms:created xsi:type="dcterms:W3CDTF">2026-06-02T09:45:43Z</dcterms:created>
  <dcterms:modified xsi:type="dcterms:W3CDTF">2026-06-02T09:45:43Z</dcterms:modified>
</cp:coreProperties>
</file>